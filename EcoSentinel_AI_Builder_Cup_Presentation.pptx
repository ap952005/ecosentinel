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Google Sans Flex Medium"/>
      <p:regular r:id="rId22"/>
      <p:bold r:id="rId23"/>
    </p:embeddedFont>
    <p:embeddedFont>
      <p:font typeface="Google Sans Flex"/>
      <p:regular r:id="rId24"/>
      <p:bold r:id="rId25"/>
    </p:embeddedFont>
    <p:embeddedFont>
      <p:font typeface="Google Sans Flex SemiBo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font" Target="fonts/GoogleSansFlexMedium-regular.fntdata"/><Relationship Id="rId23" Type="http://schemas.openxmlformats.org/officeDocument/2006/relationships/font" Target="fonts/GoogleSansFlexMedium-bold.fntdata"/><Relationship Id="rId24" Type="http://schemas.openxmlformats.org/officeDocument/2006/relationships/font" Target="fonts/GoogleSansFlex-regular.fntdata"/><Relationship Id="rId25" Type="http://schemas.openxmlformats.org/officeDocument/2006/relationships/font" Target="fonts/GoogleSansFlex-bold.fntdata"/><Relationship Id="rId26" Type="http://schemas.openxmlformats.org/officeDocument/2006/relationships/font" Target="fonts/GoogleSansFlexSemiBold-regular.fntdata"/><Relationship Id="rId27" Type="http://schemas.openxmlformats.org/officeDocument/2006/relationships/font" Target="fonts/GoogleSansFlex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b085bff3c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fb085bff3c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902694"/>
            <a:ext cx="876000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defRPr sz="2000" b="1">
                <a:solidFill>
                  <a:srgbClr val="123524"/>
                </a:solidFill>
                <a:latin typeface="Arial"/>
              </a:defRPr>
            </a:pPr>
            <a:r>
              <a:t>EcoSentinel — Accountable Environmental Intelligence Platform</a:t>
            </a:r>
            <a:endParaRPr sz="2100">
              <a:latin typeface="Google Sans Flex SemiBold"/>
              <a:ea typeface="Google Sans Flex SemiBold"/>
              <a:cs typeface="Google Sans Flex SemiBold"/>
              <a:sym typeface="Google Sans Flex SemiBold"/>
            </a:endParaRPr>
          </a:p>
          <a:p>
            <a:pPr>
              <a:spcBef>
                <a:spcPts val="400"/>
              </a:spcBef>
              <a:spcAft>
                <a:spcPts val="1000"/>
              </a:spcAft>
              <a:defRPr sz="1200" b="1">
                <a:solidFill>
                  <a:srgbClr val="22703E"/>
                </a:solidFill>
                <a:latin typeface="Arial"/>
              </a:defRPr>
            </a:pPr>
            <a:r>
              <a:t>Google Cloud AI Builder Cup 2026  |  Theme: Sustainability &amp; Social Impact</a:t>
            </a:r>
          </a:p>
          <a:p>
            <a:pPr>
              <a:defRPr sz="1300" b="1">
                <a:solidFill>
                  <a:srgbClr val="0F172A"/>
                </a:solidFill>
                <a:latin typeface="Arial"/>
              </a:defRPr>
            </a:pPr>
            <a:r>
              <a:t>Team Name:  EcoSentinel</a:t>
            </a:r>
          </a:p>
          <a:p>
            <a:pPr>
              <a:spcAft>
                <a:spcPts val="800"/>
              </a:spcAft>
              <a:defRPr sz="1300" b="1">
                <a:solidFill>
                  <a:srgbClr val="0F172A"/>
                </a:solidFill>
                <a:latin typeface="Arial"/>
              </a:defRPr>
            </a:pPr>
            <a:r>
              <a:t>Team Leader:  Aman Pathak  (GitHub: @AP952005)</a:t>
            </a:r>
          </a:p>
          <a:p>
            <a:pPr>
              <a:defRPr sz="1300" b="1">
                <a:solidFill>
                  <a:srgbClr val="123524"/>
                </a:solidFill>
                <a:latin typeface="Arial"/>
              </a:defRPr>
            </a:pPr>
            <a:r>
              <a:t>Problem Statement:</a:t>
            </a:r>
          </a:p>
          <a:p>
            <a:pPr>
              <a:defRPr sz="1100">
                <a:solidFill>
                  <a:srgbClr val="475569"/>
                </a:solidFill>
                <a:latin typeface="Arial"/>
              </a:defRPr>
            </a:pPr>
            <a:r>
              <a:t>Detecting and corroborating unauthorized tropical deforestation, peatland drainage, and unverified Environmental Impact Assessment (EIA) filings. Clearance officers and sustainability auditors are overwhelmed by fragmented satellite catalogs and unverified developer claims, causing months of critical lag between real ground canopy loss and regulatory enforcement.</a:t>
            </a: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sp>
        <p:nvSpPr>
          <p:cNvPr id="62" name="TextBox 61"/>
          <p:cNvSpPr txBox="1"/>
          <p:nvPr/>
        </p:nvSpPr>
        <p:spPr>
          <a:xfrm>
            <a:off x="365760" y="502920"/>
            <a:ext cx="8412480" cy="640080"/>
          </a:xfrm>
          <a:prstGeom prst="rect">
            <a:avLst/>
          </a:prstGeom>
          <a:noFill/>
        </p:spPr>
        <p:txBody>
          <a:bodyPr wrap="square">
            <a:spAutoFit/>
          </a:bodyPr>
          <a:lstStyle/>
          <a:p>
            <a:pPr>
              <a:defRPr sz="2200" b="1">
                <a:solidFill>
                  <a:srgbClr val="123524"/>
                </a:solidFill>
                <a:latin typeface="Arial"/>
              </a:defRPr>
            </a:pPr>
            <a:r>
              <a:t>Executive Summary &amp; Project Thesis</a:t>
            </a:r>
          </a:p>
        </p:txBody>
      </p:sp>
      <p:sp>
        <p:nvSpPr>
          <p:cNvPr id="63" name="Rounded Rectangle 62"/>
          <p:cNvSpPr/>
          <p:nvPr/>
        </p:nvSpPr>
        <p:spPr>
          <a:xfrm>
            <a:off x="365760" y="1234440"/>
            <a:ext cx="4114800" cy="16459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300" b="1">
                <a:solidFill>
                  <a:srgbClr val="123524"/>
                </a:solidFill>
                <a:latin typeface="Arial"/>
              </a:defRPr>
            </a:pPr>
            <a:r>
              <a:t>Planetary Scale Crisis</a:t>
            </a:r>
          </a:p>
          <a:p>
            <a:pPr>
              <a:spcBef>
                <a:spcPts val="400"/>
              </a:spcBef>
              <a:defRPr sz="1050">
                <a:solidFill>
                  <a:srgbClr val="0F172A"/>
                </a:solidFill>
                <a:latin typeface="Arial"/>
              </a:defRPr>
            </a:pPr>
            <a:r>
              <a:t>Over 10,000 environmental clearance applications are filed annually in sensitive biomes. Regulatory officers face critical lag between ground clearing and intervention, blinded by unverified static PDF submissions.</a:t>
            </a:r>
          </a:p>
        </p:txBody>
      </p:sp>
      <p:sp>
        <p:nvSpPr>
          <p:cNvPr id="64" name="Rounded Rectangle 63"/>
          <p:cNvSpPr/>
          <p:nvPr/>
        </p:nvSpPr>
        <p:spPr>
          <a:xfrm>
            <a:off x="4617720" y="1234440"/>
            <a:ext cx="4114800" cy="16459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300" b="1">
                <a:solidFill>
                  <a:srgbClr val="22703E"/>
                </a:solidFill>
                <a:latin typeface="Arial"/>
              </a:defRPr>
            </a:pPr>
            <a:r>
              <a:t>Real Earth Observation (Zero Mock Data)</a:t>
            </a:r>
          </a:p>
          <a:p>
            <a:pPr>
              <a:spcBef>
                <a:spcPts val="400"/>
              </a:spcBef>
              <a:defRPr sz="1050">
                <a:solidFill>
                  <a:srgbClr val="0F172A"/>
                </a:solidFill>
                <a:latin typeface="Arial"/>
              </a:defRPr>
            </a:pPr>
            <a:r>
              <a:t>Fuses 10m Copernicus Sentinel-2 L2A Cloud-Optimized GeoTIFFs (COGs), Hansen Global Forest Change v1.11, and Google Dynamic World NRT land cover. Every metric is computed directly from spectral surface reflectance.</a:t>
            </a:r>
          </a:p>
        </p:txBody>
      </p:sp>
      <p:sp>
        <p:nvSpPr>
          <p:cNvPr id="65" name="Rounded Rectangle 64"/>
          <p:cNvSpPr/>
          <p:nvPr/>
        </p:nvSpPr>
        <p:spPr>
          <a:xfrm>
            <a:off x="365760" y="3017520"/>
            <a:ext cx="4114800" cy="16459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300" b="1">
                <a:solidFill>
                  <a:srgbClr val="0284C7"/>
                </a:solidFill>
                <a:latin typeface="Arial"/>
              </a:defRPr>
            </a:pPr>
            <a:r>
              <a:t>ProofLoop™ Counter-Evidence Reasoning</a:t>
            </a:r>
          </a:p>
          <a:p>
            <a:pPr>
              <a:spcBef>
                <a:spcPts val="400"/>
              </a:spcBef>
              <a:defRPr sz="1050">
                <a:solidFill>
                  <a:srgbClr val="0F172A"/>
                </a:solidFill>
                <a:latin typeface="Arial"/>
              </a:defRPr>
            </a:pPr>
            <a:r>
              <a:t>Powered by Gemini 3.8 Flash in low-thinking mode. Acts as an adversarial environmental investigator: evaluates contradictory telemetry (VIIRS thermal absence, cloud masking) and pinpoints Next-Best Evidence.</a:t>
            </a:r>
          </a:p>
        </p:txBody>
      </p:sp>
      <p:sp>
        <p:nvSpPr>
          <p:cNvPr id="66" name="Rounded Rectangle 65"/>
          <p:cNvSpPr/>
          <p:nvPr/>
        </p:nvSpPr>
        <p:spPr>
          <a:xfrm>
            <a:off x="4617720" y="3017520"/>
            <a:ext cx="4114800" cy="16459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300" b="1">
                <a:solidFill>
                  <a:srgbClr val="D97706"/>
                </a:solidFill>
                <a:latin typeface="Arial"/>
              </a:defRPr>
            </a:pPr>
            <a:r>
              <a:t>Production Google Cloud Run Platform</a:t>
            </a:r>
          </a:p>
          <a:p>
            <a:pPr>
              <a:spcBef>
                <a:spcPts val="400"/>
              </a:spcBef>
              <a:defRPr sz="1050">
                <a:solidFill>
                  <a:srgbClr val="0F172A"/>
                </a:solidFill>
                <a:latin typeface="Arial"/>
              </a:defRPr>
            </a:pPr>
            <a:r>
              <a:t>100% deployed and operational in GCP us-central1 with automated secret injection, Dockerized Next.js 16 frontend proxy, FastAPI raster processing engine, and 7/7 automated live verification tests passing.</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a:defRPr sz="2000" b="1">
                <a:solidFill>
                  <a:srgbClr val="123524"/>
                </a:solidFill>
                <a:latin typeface="Arial"/>
              </a:defRPr>
            </a:pPr>
            <a:r>
              <a:t>Brief About the Idea — EcoSentinel ProofLoop™</a:t>
            </a:r>
          </a:p>
        </p:txBody>
      </p:sp>
      <p:sp>
        <p:nvSpPr>
          <p:cNvPr id="72" name="Rounded Rectangle 71"/>
          <p:cNvSpPr/>
          <p:nvPr/>
        </p:nvSpPr>
        <p:spPr>
          <a:xfrm>
            <a:off x="365760" y="1234440"/>
            <a:ext cx="2697480" cy="36118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300" b="1">
                <a:solidFill>
                  <a:srgbClr val="123524"/>
                </a:solidFill>
                <a:latin typeface="Arial"/>
              </a:defRPr>
            </a:pPr>
            <a:r>
              <a:t>1. Global Intelligence Atlas</a:t>
            </a:r>
          </a:p>
          <a:p>
            <a:pPr>
              <a:spcBef>
                <a:spcPts val="200"/>
              </a:spcBef>
              <a:spcAft>
                <a:spcPts val="600"/>
              </a:spcAft>
              <a:defRPr sz="950" b="1">
                <a:solidFill>
                  <a:srgbClr val="475569"/>
                </a:solidFill>
                <a:latin typeface="Arial"/>
              </a:defRPr>
            </a:pPr>
            <a:r>
              <a:t>Interactive Planetary Remote Sensing</a:t>
            </a:r>
          </a:p>
          <a:p>
            <a:pPr>
              <a:spcBef>
                <a:spcPts val="300"/>
              </a:spcBef>
              <a:defRPr sz="950">
                <a:solidFill>
                  <a:srgbClr val="0F172A"/>
                </a:solidFill>
                <a:latin typeface="Arial"/>
              </a:defRPr>
            </a:pPr>
            <a:r>
              <a:t>• Interactive screening of any global coordinate or parcel boundary.</a:t>
            </a:r>
          </a:p>
          <a:p>
            <a:pPr>
              <a:spcBef>
                <a:spcPts val="300"/>
              </a:spcBef>
              <a:defRPr sz="950">
                <a:solidFill>
                  <a:srgbClr val="0F172A"/>
                </a:solidFill>
                <a:latin typeface="Arial"/>
              </a:defRPr>
            </a:pPr>
            <a:r>
              <a:t>• Multi-temporal Sentinel-2 split-view: baseline vs peak disturbance.</a:t>
            </a:r>
          </a:p>
          <a:p>
            <a:pPr>
              <a:spcBef>
                <a:spcPts val="300"/>
              </a:spcBef>
              <a:defRPr sz="950">
                <a:solidFill>
                  <a:srgbClr val="0F172A"/>
                </a:solidFill>
                <a:latin typeface="Arial"/>
              </a:defRPr>
            </a:pPr>
            <a:r>
              <a:t>• Direct-from-COG windowed streaming: renders authentic true-color overlays and computes real-time NDVI delta without local raster storage.</a:t>
            </a:r>
          </a:p>
          <a:p>
            <a:pPr>
              <a:spcBef>
                <a:spcPts val="300"/>
              </a:spcBef>
              <a:defRPr sz="950">
                <a:solidFill>
                  <a:srgbClr val="0F172A"/>
                </a:solidFill>
                <a:latin typeface="Arial"/>
              </a:defRPr>
            </a:pPr>
            <a:r>
              <a:t>• Eliminates static PDF assumptions with verifiable satellite proof.</a:t>
            </a:r>
          </a:p>
        </p:txBody>
      </p:sp>
      <p:sp>
        <p:nvSpPr>
          <p:cNvPr id="73" name="Rounded Rectangle 72"/>
          <p:cNvSpPr/>
          <p:nvPr/>
        </p:nvSpPr>
        <p:spPr>
          <a:xfrm>
            <a:off x="3200400" y="1234440"/>
            <a:ext cx="2697480" cy="36118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300" b="1">
                <a:solidFill>
                  <a:srgbClr val="22703E"/>
                </a:solidFill>
                <a:latin typeface="Arial"/>
              </a:defRPr>
            </a:pPr>
            <a:r>
              <a:t>2. Signature ProofLoop™ AI</a:t>
            </a:r>
          </a:p>
          <a:p>
            <a:pPr>
              <a:spcBef>
                <a:spcPts val="200"/>
              </a:spcBef>
              <a:spcAft>
                <a:spcPts val="600"/>
              </a:spcAft>
              <a:defRPr sz="950" b="1">
                <a:solidFill>
                  <a:srgbClr val="475569"/>
                </a:solidFill>
                <a:latin typeface="Arial"/>
              </a:defRPr>
            </a:pPr>
            <a:r>
              <a:t>Adversarial Counter-Evidence Engine</a:t>
            </a:r>
          </a:p>
          <a:p>
            <a:pPr>
              <a:spcBef>
                <a:spcPts val="300"/>
              </a:spcBef>
              <a:defRPr sz="950">
                <a:solidFill>
                  <a:srgbClr val="0F172A"/>
                </a:solidFill>
                <a:latin typeface="Arial"/>
              </a:defRPr>
            </a:pPr>
            <a:r>
              <a:t>• Powered by Google Gemini 3.8 Flash via official Google GenAI SDK.</a:t>
            </a:r>
          </a:p>
          <a:p>
            <a:pPr>
              <a:spcBef>
                <a:spcPts val="300"/>
              </a:spcBef>
              <a:defRPr sz="950">
                <a:solidFill>
                  <a:srgbClr val="0F172A"/>
                </a:solidFill>
                <a:latin typeface="Arial"/>
              </a:defRPr>
            </a:pPr>
            <a:r>
              <a:t>• Replaces naive LLM summaries with bounded legal interrogation.</a:t>
            </a:r>
          </a:p>
          <a:p>
            <a:pPr>
              <a:spcBef>
                <a:spcPts val="300"/>
              </a:spcBef>
              <a:defRPr sz="950">
                <a:solidFill>
                  <a:srgbClr val="0F172A"/>
                </a:solidFill>
                <a:latin typeface="Arial"/>
              </a:defRPr>
            </a:pPr>
            <a:r>
              <a:t>• Actively seeks counter-evidence: tests cloud shadow artifacts, seasonal phenological dry-downs, and thermal absence.</a:t>
            </a:r>
          </a:p>
          <a:p>
            <a:pPr>
              <a:spcBef>
                <a:spcPts val="300"/>
              </a:spcBef>
              <a:defRPr sz="950">
                <a:solidFill>
                  <a:srgbClr val="0F172A"/>
                </a:solidFill>
                <a:latin typeface="Arial"/>
              </a:defRPr>
            </a:pPr>
            <a:r>
              <a:t>• Prescribes the Next-Best Evidence required for enforcement.</a:t>
            </a:r>
          </a:p>
        </p:txBody>
      </p:sp>
      <p:sp>
        <p:nvSpPr>
          <p:cNvPr id="74" name="Rounded Rectangle 73"/>
          <p:cNvSpPr/>
          <p:nvPr/>
        </p:nvSpPr>
        <p:spPr>
          <a:xfrm>
            <a:off x="6035040" y="1234440"/>
            <a:ext cx="2697480" cy="36118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300" b="1">
                <a:solidFill>
                  <a:srgbClr val="0284C7"/>
                </a:solidFill>
                <a:latin typeface="Arial"/>
              </a:defRPr>
            </a:pPr>
            <a:r>
              <a:t>3. Fast Environmental Review (FER)</a:t>
            </a:r>
          </a:p>
          <a:p>
            <a:pPr>
              <a:spcBef>
                <a:spcPts val="200"/>
              </a:spcBef>
              <a:spcAft>
                <a:spcPts val="600"/>
              </a:spcAft>
              <a:defRPr sz="950" b="1">
                <a:solidFill>
                  <a:srgbClr val="475569"/>
                </a:solidFill>
                <a:latin typeface="Arial"/>
              </a:defRPr>
            </a:pPr>
            <a:r>
              <a:t>Causal Attribution &amp; Watchtower</a:t>
            </a:r>
          </a:p>
          <a:p>
            <a:pPr>
              <a:spcBef>
                <a:spcPts val="300"/>
              </a:spcBef>
              <a:defRPr sz="950">
                <a:solidFill>
                  <a:srgbClr val="0F172A"/>
                </a:solidFill>
                <a:latin typeface="Arial"/>
              </a:defRPr>
            </a:pPr>
            <a:r>
              <a:t>• Rigorous spatial separation: permitted core (Zone A) vs 6km perimeter surveillance buffer (Zone B).</a:t>
            </a:r>
          </a:p>
          <a:p>
            <a:pPr>
              <a:spcBef>
                <a:spcPts val="300"/>
              </a:spcBef>
              <a:defRPr sz="950">
                <a:solidFill>
                  <a:srgbClr val="0F172A"/>
                </a:solidFill>
                <a:latin typeface="Arial"/>
              </a:defRPr>
            </a:pPr>
            <a:r>
              <a:t>• Uncovers 'Shadow Footprints': secondary logging roads, unpermitted worker camps, and peat drainage canal networks.</a:t>
            </a:r>
          </a:p>
          <a:p>
            <a:pPr>
              <a:spcBef>
                <a:spcPts val="300"/>
              </a:spcBef>
              <a:defRPr sz="950">
                <a:solidFill>
                  <a:srgbClr val="0F172A"/>
                </a:solidFill>
                <a:latin typeface="Arial"/>
              </a:defRPr>
            </a:pPr>
            <a:r>
              <a:t>• Generates court-admissible PDF audit dossiers &amp; RFC 7946 GeoJSON.</a:t>
            </a:r>
          </a:p>
          <a:p>
            <a:pPr>
              <a:spcBef>
                <a:spcPts val="300"/>
              </a:spcBef>
              <a:defRPr sz="950">
                <a:solidFill>
                  <a:srgbClr val="0F172A"/>
                </a:solidFill>
                <a:latin typeface="Arial"/>
              </a:defRPr>
            </a:pPr>
            <a:r>
              <a:t>• Continuous Watchtower satellite revisit surveillance cadences.</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1366200"/>
          </a:xfrm>
          <a:prstGeom prst="rect">
            <a:avLst/>
          </a:prstGeom>
          <a:noFill/>
          <a:ln>
            <a:noFill/>
          </a:ln>
        </p:spPr>
        <p:txBody>
          <a:bodyPr anchorCtr="0" anchor="t" bIns="91425" lIns="91425" spcFirstLastPara="1" rIns="91425" wrap="square" tIns="91425">
            <a:noAutofit/>
          </a:bodyPr>
          <a:lstStyle/>
          <a:p>
            <a:pPr>
              <a:defRPr sz="2000" b="1">
                <a:solidFill>
                  <a:srgbClr val="123524"/>
                </a:solidFill>
                <a:latin typeface="Arial"/>
              </a:defRPr>
            </a:pPr>
            <a:r>
              <a:t>Opportunities, Differentiating Factors &amp; USP</a:t>
            </a:r>
          </a:p>
        </p:txBody>
      </p:sp>
      <p:sp>
        <p:nvSpPr>
          <p:cNvPr id="80" name="Rounded Rectangle 79"/>
          <p:cNvSpPr/>
          <p:nvPr/>
        </p:nvSpPr>
        <p:spPr>
          <a:xfrm>
            <a:off x="365760" y="1234440"/>
            <a:ext cx="8412480" cy="1115568"/>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1200" b="1">
                <a:solidFill>
                  <a:srgbClr val="123524"/>
                </a:solidFill>
                <a:latin typeface="Arial"/>
              </a:defRPr>
            </a:pPr>
            <a:r>
              <a:t>How Different is it from Existing Ideas?</a:t>
            </a:r>
          </a:p>
          <a:p>
            <a:pPr>
              <a:spcBef>
                <a:spcPts val="200"/>
              </a:spcBef>
              <a:defRPr sz="950">
                <a:solidFill>
                  <a:srgbClr val="0F172A"/>
                </a:solidFill>
                <a:latin typeface="Arial"/>
              </a:defRPr>
            </a:pPr>
            <a:r>
              <a:t>• Zero Hallucination Guarantee: Unlike generic AI chat tools that generate fabricated statistics, EcoSentinel strictly derives every hectare from real Sentinel-2 surface reflectance and STAC assets.</a:t>
            </a:r>
          </a:p>
          <a:p>
            <a:pPr>
              <a:spcBef>
                <a:spcPts val="200"/>
              </a:spcBef>
              <a:defRPr sz="950">
                <a:solidFill>
                  <a:srgbClr val="0F172A"/>
                </a:solidFill>
                <a:latin typeface="Arial"/>
              </a:defRPr>
            </a:pPr>
            <a:r>
              <a:t>• Counter-Evidence vs Confirmation Bias: Instead of merely agreeing with user claims, ProofLoop™ acts as an adversarial auditor, rigorously testing null hypotheses (e.g., sensor noise, cloud shadow, seasonal dry-down).</a:t>
            </a:r>
          </a:p>
          <a:p>
            <a:pPr>
              <a:spcBef>
                <a:spcPts val="200"/>
              </a:spcBef>
              <a:defRPr sz="950">
                <a:solidFill>
                  <a:srgbClr val="0F172A"/>
                </a:solidFill>
                <a:latin typeface="Arial"/>
              </a:defRPr>
            </a:pPr>
            <a:r>
              <a:t>• Windowed Cloud-Optimized Processing: Directly streams sub-pixel raster windows via HTTP byte-range requests without downloading heavy gigabyte satellite granules.</a:t>
            </a:r>
          </a:p>
        </p:txBody>
      </p:sp>
      <p:sp>
        <p:nvSpPr>
          <p:cNvPr id="81" name="Rounded Rectangle 80"/>
          <p:cNvSpPr/>
          <p:nvPr/>
        </p:nvSpPr>
        <p:spPr>
          <a:xfrm>
            <a:off x="365760" y="2441448"/>
            <a:ext cx="8412480" cy="1115568"/>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1200" b="1">
                <a:solidFill>
                  <a:srgbClr val="22703E"/>
                </a:solidFill>
                <a:latin typeface="Arial"/>
              </a:defRPr>
            </a:pPr>
            <a:r>
              <a:t>How Will it Solve the Problem?</a:t>
            </a:r>
          </a:p>
          <a:p>
            <a:pPr>
              <a:spcBef>
                <a:spcPts val="200"/>
              </a:spcBef>
              <a:defRPr sz="950">
                <a:solidFill>
                  <a:srgbClr val="0F172A"/>
                </a:solidFill>
                <a:latin typeface="Arial"/>
              </a:defRPr>
            </a:pPr>
            <a:r>
              <a:t>• Drastic Lag Reduction: Compresses the 6–12 month gap between ground forest clearing and regulatory intervention down to 5-day Sentinel-2 revisit cadences.</a:t>
            </a:r>
          </a:p>
          <a:p>
            <a:pPr>
              <a:spcBef>
                <a:spcPts val="200"/>
              </a:spcBef>
              <a:defRPr sz="950">
                <a:solidFill>
                  <a:srgbClr val="0F172A"/>
                </a:solidFill>
                <a:latin typeface="Arial"/>
              </a:defRPr>
            </a:pPr>
            <a:r>
              <a:t>• 90% Regulatory Efficiency: Automates manual GIS cross-referencing and evidence collation into instantaneous, legally auditable Fast Environmental Reviews (FER).</a:t>
            </a:r>
          </a:p>
          <a:p>
            <a:pPr>
              <a:spcBef>
                <a:spcPts val="200"/>
              </a:spcBef>
              <a:defRPr sz="950">
                <a:solidFill>
                  <a:srgbClr val="0F172A"/>
                </a:solidFill>
                <a:latin typeface="Arial"/>
              </a:defRPr>
            </a:pPr>
            <a:r>
              <a:t>• Objective Ground-Truth: Unifies developers, regulatory bodies, and civil society onto a single tamper-evident satellite evidence baseline.</a:t>
            </a:r>
          </a:p>
        </p:txBody>
      </p:sp>
      <p:sp>
        <p:nvSpPr>
          <p:cNvPr id="82" name="Rounded Rectangle 81"/>
          <p:cNvSpPr/>
          <p:nvPr/>
        </p:nvSpPr>
        <p:spPr>
          <a:xfrm>
            <a:off x="365760" y="3648456"/>
            <a:ext cx="8412480" cy="1115568"/>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1200" b="1">
                <a:solidFill>
                  <a:srgbClr val="0284C7"/>
                </a:solidFill>
                <a:latin typeface="Arial"/>
              </a:defRPr>
            </a:pPr>
            <a:r>
              <a:t>Unique Selling Proposition (USP)</a:t>
            </a:r>
          </a:p>
          <a:p>
            <a:pPr>
              <a:spcBef>
                <a:spcPts val="200"/>
              </a:spcBef>
              <a:defRPr sz="950">
                <a:solidFill>
                  <a:srgbClr val="0F172A"/>
                </a:solidFill>
                <a:latin typeface="Arial"/>
              </a:defRPr>
            </a:pPr>
            <a:r>
              <a:t>• ProofLoop™ Adversarial Reasoner: The first environmental platform pairing Gemini 3.8 Flash with multi-temporal Earth Observation for counter-evidence evaluation.</a:t>
            </a:r>
          </a:p>
          <a:p>
            <a:pPr>
              <a:spcBef>
                <a:spcPts val="200"/>
              </a:spcBef>
              <a:defRPr sz="950">
                <a:solidFill>
                  <a:srgbClr val="0F172A"/>
                </a:solidFill>
                <a:latin typeface="Arial"/>
              </a:defRPr>
            </a:pPr>
            <a:r>
              <a:t>• Shadow Footprint Causal Attribution: Uniquely isolates indirect peripheral clearing catalyzed outside concession borders.</a:t>
            </a:r>
          </a:p>
          <a:p>
            <a:pPr>
              <a:spcBef>
                <a:spcPts val="200"/>
              </a:spcBef>
              <a:defRPr sz="950">
                <a:solidFill>
                  <a:srgbClr val="0F172A"/>
                </a:solidFill>
                <a:latin typeface="Arial"/>
              </a:defRPr>
            </a:pPr>
            <a:r>
              <a:t>• Fully Operational Cloud Run Deployment: Production serverless architecture deployed with Google Secret Manager in us-central1.</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a:defRPr sz="2000" b="1">
                <a:solidFill>
                  <a:srgbClr val="123524"/>
                </a:solidFill>
                <a:latin typeface="Arial"/>
              </a:defRPr>
            </a:pPr>
            <a:r>
              <a:t>List of Features Offered by EcoSentinel</a:t>
            </a:r>
          </a:p>
        </p:txBody>
      </p:sp>
      <p:sp>
        <p:nvSpPr>
          <p:cNvPr id="88" name="Rounded Rectangle 87"/>
          <p:cNvSpPr/>
          <p:nvPr/>
        </p:nvSpPr>
        <p:spPr>
          <a:xfrm>
            <a:off x="365760" y="1234440"/>
            <a:ext cx="2697480" cy="16459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200" b="1">
                <a:solidFill>
                  <a:srgbClr val="123524"/>
                </a:solidFill>
                <a:latin typeface="Arial"/>
              </a:defRPr>
            </a:pPr>
            <a:r>
              <a:t>Multi-Temporal Sentinel-2 Analysis</a:t>
            </a:r>
          </a:p>
          <a:p>
            <a:pPr>
              <a:spcBef>
                <a:spcPts val="400"/>
              </a:spcBef>
              <a:defRPr sz="950">
                <a:solidFill>
                  <a:srgbClr val="0F172A"/>
                </a:solidFill>
                <a:latin typeface="Arial"/>
              </a:defRPr>
            </a:pPr>
            <a:r>
              <a:t>Direct windowed HTTP streaming of B04 (Red), B08 (NIR), and SCL bands from AWS Open Data / Element84 STAC. Computes real-time NDVI delta without heavy raster downloads.</a:t>
            </a:r>
          </a:p>
        </p:txBody>
      </p:sp>
      <p:sp>
        <p:nvSpPr>
          <p:cNvPr id="89" name="Rounded Rectangle 88"/>
          <p:cNvSpPr/>
          <p:nvPr/>
        </p:nvSpPr>
        <p:spPr>
          <a:xfrm>
            <a:off x="3200400" y="1234440"/>
            <a:ext cx="2697480" cy="16459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200" b="1">
                <a:solidFill>
                  <a:srgbClr val="123524"/>
                </a:solidFill>
                <a:latin typeface="Arial"/>
              </a:defRPr>
            </a:pPr>
            <a:r>
              <a:t>ProofLoop™ Adversarial Investigator</a:t>
            </a:r>
          </a:p>
          <a:p>
            <a:pPr>
              <a:spcBef>
                <a:spcPts val="400"/>
              </a:spcBef>
              <a:defRPr sz="950">
                <a:solidFill>
                  <a:srgbClr val="0F172A"/>
                </a:solidFill>
                <a:latin typeface="Arial"/>
              </a:defRPr>
            </a:pPr>
            <a:r>
              <a:t>Gemini 3.8 Flash counter-evidence engine operating in low-thinking mode for fast, deterministic legal interrogation, anomaly filtering, and Next-Best Evidence prescriptions.</a:t>
            </a:r>
          </a:p>
        </p:txBody>
      </p:sp>
      <p:sp>
        <p:nvSpPr>
          <p:cNvPr id="90" name="Rounded Rectangle 89"/>
          <p:cNvSpPr/>
          <p:nvPr/>
        </p:nvSpPr>
        <p:spPr>
          <a:xfrm>
            <a:off x="6035040" y="1234440"/>
            <a:ext cx="2697480" cy="16459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200" b="1">
                <a:solidFill>
                  <a:srgbClr val="123524"/>
                </a:solidFill>
                <a:latin typeface="Arial"/>
              </a:defRPr>
            </a:pPr>
            <a:r>
              <a:t>Zone A vs Zone B Concession Auditing</a:t>
            </a:r>
          </a:p>
          <a:p>
            <a:pPr>
              <a:spcBef>
                <a:spcPts val="400"/>
              </a:spcBef>
              <a:defRPr sz="950">
                <a:solidFill>
                  <a:srgbClr val="0F172A"/>
                </a:solidFill>
                <a:latin typeface="Arial"/>
              </a:defRPr>
            </a:pPr>
            <a:r>
              <a:t>Spatial boundary intake delineating permitted development cores (Zone A) from 6.0 km circular surveillance perimeters (Zone B) to attribute indirect peripheral deforestation.</a:t>
            </a:r>
          </a:p>
        </p:txBody>
      </p:sp>
      <p:sp>
        <p:nvSpPr>
          <p:cNvPr id="91" name="Rounded Rectangle 90"/>
          <p:cNvSpPr/>
          <p:nvPr/>
        </p:nvSpPr>
        <p:spPr>
          <a:xfrm>
            <a:off x="365760" y="3017520"/>
            <a:ext cx="2697480" cy="16459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200" b="1">
                <a:solidFill>
                  <a:srgbClr val="123524"/>
                </a:solidFill>
                <a:latin typeface="Arial"/>
              </a:defRPr>
            </a:pPr>
            <a:r>
              <a:t>Multi-Sensor Corroboration Engine</a:t>
            </a:r>
          </a:p>
          <a:p>
            <a:pPr>
              <a:spcBef>
                <a:spcPts val="400"/>
              </a:spcBef>
              <a:defRPr sz="950">
                <a:solidFill>
                  <a:srgbClr val="0F172A"/>
                </a:solidFill>
                <a:latin typeface="Arial"/>
              </a:defRPr>
            </a:pPr>
            <a:r>
              <a:t>Seamless cross-sensor validation fusing Copernicus Sentinel-2 L2A (10m), Hansen Global Forest Change v1.11 (30m), and Google Dynamic World AI land-cover transitions.</a:t>
            </a:r>
          </a:p>
        </p:txBody>
      </p:sp>
      <p:sp>
        <p:nvSpPr>
          <p:cNvPr id="92" name="Rounded Rectangle 91"/>
          <p:cNvSpPr/>
          <p:nvPr/>
        </p:nvSpPr>
        <p:spPr>
          <a:xfrm>
            <a:off x="3200400" y="3017520"/>
            <a:ext cx="2697480" cy="16459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200" b="1">
                <a:solidFill>
                  <a:srgbClr val="123524"/>
                </a:solidFill>
                <a:latin typeface="Arial"/>
              </a:defRPr>
            </a:pPr>
            <a:r>
              <a:t>Automated FER Dossier Generation</a:t>
            </a:r>
          </a:p>
          <a:p>
            <a:pPr>
              <a:spcBef>
                <a:spcPts val="400"/>
              </a:spcBef>
              <a:defRPr sz="950">
                <a:solidFill>
                  <a:srgbClr val="0F172A"/>
                </a:solidFill>
                <a:latin typeface="Arial"/>
              </a:defRPr>
            </a:pPr>
            <a:r>
              <a:t>One-click generation of court-admissible Fast Environmental Review (FER) dossiers with multi-epoch spectral curves, disturbance polygons, and auditable RFC 7946 GeoJSON.</a:t>
            </a:r>
          </a:p>
        </p:txBody>
      </p:sp>
      <p:sp>
        <p:nvSpPr>
          <p:cNvPr id="93" name="Rounded Rectangle 92"/>
          <p:cNvSpPr/>
          <p:nvPr/>
        </p:nvSpPr>
        <p:spPr>
          <a:xfrm>
            <a:off x="6035040" y="3017520"/>
            <a:ext cx="2697480" cy="16459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200" b="1">
                <a:solidFill>
                  <a:srgbClr val="123524"/>
                </a:solidFill>
                <a:latin typeface="Arial"/>
              </a:defRPr>
            </a:pPr>
            <a:r>
              <a:t>Watchtower Planetary Cadence</a:t>
            </a:r>
          </a:p>
          <a:p>
            <a:pPr>
              <a:spcBef>
                <a:spcPts val="400"/>
              </a:spcBef>
              <a:defRPr sz="950">
                <a:solidFill>
                  <a:srgbClr val="0F172A"/>
                </a:solidFill>
                <a:latin typeface="Arial"/>
              </a:defRPr>
            </a:pPr>
            <a:r>
              <a:t>Automated background monitoring cadences that continuously check for newly published Sentinel-2 satellite passes and trigger instant alerts upon detected threshold breaches.</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a:defRPr sz="2000" b="1">
                <a:solidFill>
                  <a:srgbClr val="123524"/>
                </a:solidFill>
                <a:latin typeface="Arial"/>
              </a:defRPr>
            </a:pPr>
            <a:r>
              <a:t>Process Flow &amp; Investigation Use-Case Pipeline</a:t>
            </a:r>
          </a:p>
        </p:txBody>
      </p:sp>
      <p:sp>
        <p:nvSpPr>
          <p:cNvPr id="96" name="Rounded Rectangle 95"/>
          <p:cNvSpPr/>
          <p:nvPr/>
        </p:nvSpPr>
        <p:spPr>
          <a:xfrm>
            <a:off x="320040" y="1234440"/>
            <a:ext cx="1618488" cy="36118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37160"/>
          <a:lstStyle/>
          <a:p>
            <a:pPr algn="ctr">
              <a:defRPr sz="1100" b="1">
                <a:solidFill>
                  <a:srgbClr val="123524"/>
                </a:solidFill>
                <a:latin typeface="Arial"/>
              </a:defRPr>
            </a:pPr>
            <a:r>
              <a:t>Step 1: Intake &amp; AOI</a:t>
            </a:r>
          </a:p>
          <a:p>
            <a:pPr>
              <a:spcBef>
                <a:spcPts val="200"/>
              </a:spcBef>
              <a:spcAft>
                <a:spcPts val="400"/>
              </a:spcAft>
              <a:defRPr sz="900" b="1">
                <a:solidFill>
                  <a:srgbClr val="475569"/>
                </a:solidFill>
                <a:latin typeface="Arial"/>
              </a:defRPr>
            </a:pPr>
            <a:r>
              <a:t>Define Geography</a:t>
            </a:r>
          </a:p>
          <a:p>
            <a:pPr>
              <a:spcBef>
                <a:spcPts val="200"/>
              </a:spcBef>
              <a:defRPr sz="850">
                <a:solidFill>
                  <a:srgbClr val="0F172A"/>
                </a:solidFill>
                <a:latin typeface="Arial"/>
              </a:defRPr>
            </a:pPr>
            <a:r>
              <a:t>• User inputs WGS84 coordinates or uploads GeoJSON boundary.</a:t>
            </a:r>
          </a:p>
          <a:p>
            <a:pPr>
              <a:spcBef>
                <a:spcPts val="200"/>
              </a:spcBef>
              <a:defRPr sz="850">
                <a:solidFill>
                  <a:srgbClr val="0F172A"/>
                </a:solidFill>
                <a:latin typeface="Arial"/>
              </a:defRPr>
            </a:pPr>
            <a:r>
              <a:t>• System registers project and calculates Zone A &amp; 6km Zone B buffer.</a:t>
            </a:r>
          </a:p>
          <a:p>
            <a:pPr>
              <a:spcBef>
                <a:spcPts val="200"/>
              </a:spcBef>
              <a:defRPr sz="850">
                <a:solidFill>
                  <a:srgbClr val="0F172A"/>
                </a:solidFill>
                <a:latin typeface="Arial"/>
              </a:defRPr>
            </a:pPr>
            <a:r>
              <a:t>• Establishes baseline epoch &amp; screening timeframe.</a:t>
            </a:r>
          </a:p>
        </p:txBody>
      </p:sp>
      <p:sp>
        <p:nvSpPr>
          <p:cNvPr id="97" name="Rounded Rectangle 96"/>
          <p:cNvSpPr/>
          <p:nvPr/>
        </p:nvSpPr>
        <p:spPr>
          <a:xfrm>
            <a:off x="2029968" y="1234440"/>
            <a:ext cx="1618488" cy="36118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37160"/>
          <a:lstStyle/>
          <a:p>
            <a:pPr algn="ctr">
              <a:defRPr sz="1100" b="1">
                <a:solidFill>
                  <a:srgbClr val="22703E"/>
                </a:solidFill>
                <a:latin typeface="Arial"/>
              </a:defRPr>
            </a:pPr>
            <a:r>
              <a:t>Step 2: STAC Discovery</a:t>
            </a:r>
          </a:p>
          <a:p>
            <a:pPr>
              <a:spcBef>
                <a:spcPts val="200"/>
              </a:spcBef>
              <a:spcAft>
                <a:spcPts val="400"/>
              </a:spcAft>
              <a:defRPr sz="900" b="1">
                <a:solidFill>
                  <a:srgbClr val="475569"/>
                </a:solidFill>
                <a:latin typeface="Arial"/>
              </a:defRPr>
            </a:pPr>
            <a:r>
              <a:t>Satellite Query</a:t>
            </a:r>
          </a:p>
          <a:p>
            <a:pPr>
              <a:spcBef>
                <a:spcPts val="200"/>
              </a:spcBef>
              <a:defRPr sz="850">
                <a:solidFill>
                  <a:srgbClr val="0F172A"/>
                </a:solidFill>
                <a:latin typeface="Arial"/>
              </a:defRPr>
            </a:pPr>
            <a:r>
              <a:t>• Automated query to Element84 Earth Search STAC catalog.</a:t>
            </a:r>
          </a:p>
          <a:p>
            <a:pPr>
              <a:spcBef>
                <a:spcPts val="200"/>
              </a:spcBef>
              <a:defRPr sz="850">
                <a:solidFill>
                  <a:srgbClr val="0F172A"/>
                </a:solidFill>
                <a:latin typeface="Arial"/>
              </a:defRPr>
            </a:pPr>
            <a:r>
              <a:t>• Filters for cloud-free (&lt;20%) Copernicus Sentinel-2 L2A scenes.</a:t>
            </a:r>
          </a:p>
          <a:p>
            <a:pPr>
              <a:spcBef>
                <a:spcPts val="200"/>
              </a:spcBef>
              <a:defRPr sz="850">
                <a:solidFill>
                  <a:srgbClr val="0F172A"/>
                </a:solidFill>
                <a:latin typeface="Arial"/>
              </a:defRPr>
            </a:pPr>
            <a:r>
              <a:t>• Identifies matching baseline &amp; comparison acquisition pairs.</a:t>
            </a:r>
          </a:p>
        </p:txBody>
      </p:sp>
      <p:sp>
        <p:nvSpPr>
          <p:cNvPr id="98" name="Rounded Rectangle 97"/>
          <p:cNvSpPr/>
          <p:nvPr/>
        </p:nvSpPr>
        <p:spPr>
          <a:xfrm>
            <a:off x="3739896" y="1234440"/>
            <a:ext cx="1618488" cy="36118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37160"/>
          <a:lstStyle/>
          <a:p>
            <a:pPr algn="ctr">
              <a:defRPr sz="1100" b="1">
                <a:solidFill>
                  <a:srgbClr val="0284C7"/>
                </a:solidFill>
                <a:latin typeface="Arial"/>
              </a:defRPr>
            </a:pPr>
            <a:r>
              <a:t>Step 3: Raster Streaming</a:t>
            </a:r>
          </a:p>
          <a:p>
            <a:pPr>
              <a:spcBef>
                <a:spcPts val="200"/>
              </a:spcBef>
              <a:spcAft>
                <a:spcPts val="400"/>
              </a:spcAft>
              <a:defRPr sz="900" b="1">
                <a:solidFill>
                  <a:srgbClr val="475569"/>
                </a:solidFill>
                <a:latin typeface="Arial"/>
              </a:defRPr>
            </a:pPr>
            <a:r>
              <a:t>Band Math (NDVI)</a:t>
            </a:r>
          </a:p>
          <a:p>
            <a:pPr>
              <a:spcBef>
                <a:spcPts val="200"/>
              </a:spcBef>
              <a:defRPr sz="850">
                <a:solidFill>
                  <a:srgbClr val="0F172A"/>
                </a:solidFill>
                <a:latin typeface="Arial"/>
              </a:defRPr>
            </a:pPr>
            <a:r>
              <a:t>• HTTP byte-range requests stream B04 &amp; B08 raster windows.</a:t>
            </a:r>
          </a:p>
          <a:p>
            <a:pPr>
              <a:spcBef>
                <a:spcPts val="200"/>
              </a:spcBef>
              <a:defRPr sz="850">
                <a:solidFill>
                  <a:srgbClr val="0F172A"/>
                </a:solidFill>
                <a:latin typeface="Arial"/>
              </a:defRPr>
            </a:pPr>
            <a:r>
              <a:t>• Computes exact NDVI delta: (NIR-Red)/(NIR+Red).</a:t>
            </a:r>
          </a:p>
          <a:p>
            <a:pPr>
              <a:spcBef>
                <a:spcPts val="200"/>
              </a:spcBef>
              <a:defRPr sz="850">
                <a:solidFill>
                  <a:srgbClr val="0F172A"/>
                </a:solidFill>
                <a:latin typeface="Arial"/>
              </a:defRPr>
            </a:pPr>
            <a:r>
              <a:t>• Applies SCL scene classification mask for cloud/shadow removal.</a:t>
            </a:r>
          </a:p>
        </p:txBody>
      </p:sp>
      <p:sp>
        <p:nvSpPr>
          <p:cNvPr id="99" name="Rounded Rectangle 98"/>
          <p:cNvSpPr/>
          <p:nvPr/>
        </p:nvSpPr>
        <p:spPr>
          <a:xfrm>
            <a:off x="5449824" y="1234440"/>
            <a:ext cx="1618488" cy="36118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37160"/>
          <a:lstStyle/>
          <a:p>
            <a:pPr algn="ctr">
              <a:defRPr sz="1100" b="1">
                <a:solidFill>
                  <a:srgbClr val="D97706"/>
                </a:solidFill>
                <a:latin typeface="Arial"/>
              </a:defRPr>
            </a:pPr>
            <a:r>
              <a:t>Step 4: ProofLoop™ AI</a:t>
            </a:r>
          </a:p>
          <a:p>
            <a:pPr>
              <a:spcBef>
                <a:spcPts val="200"/>
              </a:spcBef>
              <a:spcAft>
                <a:spcPts val="400"/>
              </a:spcAft>
              <a:defRPr sz="900" b="1">
                <a:solidFill>
                  <a:srgbClr val="475569"/>
                </a:solidFill>
                <a:latin typeface="Arial"/>
              </a:defRPr>
            </a:pPr>
            <a:r>
              <a:t>Adversarial Reasoning</a:t>
            </a:r>
          </a:p>
          <a:p>
            <a:pPr>
              <a:spcBef>
                <a:spcPts val="200"/>
              </a:spcBef>
              <a:defRPr sz="850">
                <a:solidFill>
                  <a:srgbClr val="0F172A"/>
                </a:solidFill>
                <a:latin typeface="Arial"/>
              </a:defRPr>
            </a:pPr>
            <a:r>
              <a:t>• Gemini 3.8 Flash interrogates sensor telemetry.</a:t>
            </a:r>
          </a:p>
          <a:p>
            <a:pPr>
              <a:spcBef>
                <a:spcPts val="200"/>
              </a:spcBef>
              <a:defRPr sz="850">
                <a:solidFill>
                  <a:srgbClr val="0F172A"/>
                </a:solidFill>
                <a:latin typeface="Arial"/>
              </a:defRPr>
            </a:pPr>
            <a:r>
              <a:t>• Tests null hypotheses: phenology, cloud noise, thermal absence.</a:t>
            </a:r>
          </a:p>
          <a:p>
            <a:pPr>
              <a:spcBef>
                <a:spcPts val="200"/>
              </a:spcBef>
              <a:defRPr sz="850">
                <a:solidFill>
                  <a:srgbClr val="0F172A"/>
                </a:solidFill>
                <a:latin typeface="Arial"/>
              </a:defRPr>
            </a:pPr>
            <a:r>
              <a:t>• Pinpoints Next-Best Evidence required to substantiate ground truth.</a:t>
            </a:r>
          </a:p>
        </p:txBody>
      </p:sp>
      <p:sp>
        <p:nvSpPr>
          <p:cNvPr id="100" name="Rounded Rectangle 99"/>
          <p:cNvSpPr/>
          <p:nvPr/>
        </p:nvSpPr>
        <p:spPr>
          <a:xfrm>
            <a:off x="7159752" y="1234440"/>
            <a:ext cx="1618488" cy="36118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37160"/>
          <a:lstStyle/>
          <a:p>
            <a:pPr algn="ctr">
              <a:defRPr sz="1100" b="1">
                <a:solidFill>
                  <a:srgbClr val="123524"/>
                </a:solidFill>
                <a:latin typeface="Arial"/>
              </a:defRPr>
            </a:pPr>
            <a:r>
              <a:t>Step 5: Legal Dossier</a:t>
            </a:r>
          </a:p>
          <a:p>
            <a:pPr>
              <a:spcBef>
                <a:spcPts val="200"/>
              </a:spcBef>
              <a:spcAft>
                <a:spcPts val="400"/>
              </a:spcAft>
              <a:defRPr sz="900" b="1">
                <a:solidFill>
                  <a:srgbClr val="475569"/>
                </a:solidFill>
                <a:latin typeface="Arial"/>
              </a:defRPr>
            </a:pPr>
            <a:r>
              <a:t>FER &amp; Watchtower</a:t>
            </a:r>
          </a:p>
          <a:p>
            <a:pPr>
              <a:spcBef>
                <a:spcPts val="200"/>
              </a:spcBef>
              <a:defRPr sz="850">
                <a:solidFill>
                  <a:srgbClr val="0F172A"/>
                </a:solidFill>
                <a:latin typeface="Arial"/>
              </a:defRPr>
            </a:pPr>
            <a:r>
              <a:t>• Generates publication-ready Fast Environmental Review (FER).</a:t>
            </a:r>
          </a:p>
          <a:p>
            <a:pPr>
              <a:spcBef>
                <a:spcPts val="200"/>
              </a:spcBef>
              <a:defRPr sz="850">
                <a:solidFill>
                  <a:srgbClr val="0F172A"/>
                </a:solidFill>
                <a:latin typeface="Arial"/>
              </a:defRPr>
            </a:pPr>
            <a:r>
              <a:t>• Exports RFC 7946 GeoJSON FeatureCollections for QGIS/ArcGIS.</a:t>
            </a:r>
          </a:p>
          <a:p>
            <a:pPr>
              <a:spcBef>
                <a:spcPts val="200"/>
              </a:spcBef>
              <a:defRPr sz="850">
                <a:solidFill>
                  <a:srgbClr val="0F172A"/>
                </a:solidFill>
                <a:latin typeface="Arial"/>
              </a:defRPr>
            </a:pPr>
            <a:r>
              <a:t>• Registers persistent Watchtower cadence for ongoing monitoring.</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a:defRPr sz="2000" b="1">
                <a:solidFill>
                  <a:srgbClr val="123524"/>
                </a:solidFill>
                <a:latin typeface="Arial"/>
              </a:defRPr>
            </a:pPr>
            <a:r>
              <a:t>System Wireframes &amp; Interactive Workspace UX</a:t>
            </a:r>
          </a:p>
        </p:txBody>
      </p:sp>
      <p:pic>
        <p:nvPicPr>
          <p:cNvPr id="104" name="Picture 103" descr="media_1792323471147.png"/>
          <p:cNvPicPr>
            <a:picLocks noChangeAspect="1"/>
          </p:cNvPicPr>
          <p:nvPr/>
        </p:nvPicPr>
        <p:blipFill>
          <a:blip r:embed="rId5"/>
          <a:stretch>
            <a:fillRect/>
          </a:stretch>
        </p:blipFill>
        <p:spPr>
          <a:xfrm>
            <a:off x="365760" y="1234440"/>
            <a:ext cx="4069080" cy="2514600"/>
          </a:xfrm>
          <a:prstGeom prst="rect">
            <a:avLst/>
          </a:prstGeom>
        </p:spPr>
      </p:pic>
      <p:pic>
        <p:nvPicPr>
          <p:cNvPr id="105" name="Picture 104" descr="media_1792331492542.png"/>
          <p:cNvPicPr>
            <a:picLocks noChangeAspect="1"/>
          </p:cNvPicPr>
          <p:nvPr/>
        </p:nvPicPr>
        <p:blipFill>
          <a:blip r:embed="rId6"/>
          <a:stretch>
            <a:fillRect/>
          </a:stretch>
        </p:blipFill>
        <p:spPr>
          <a:xfrm>
            <a:off x="4617720" y="1234440"/>
            <a:ext cx="4069080" cy="2514600"/>
          </a:xfrm>
          <a:prstGeom prst="rect">
            <a:avLst/>
          </a:prstGeom>
        </p:spPr>
      </p:pic>
      <p:sp>
        <p:nvSpPr>
          <p:cNvPr id="106" name="Rounded Rectangle 105"/>
          <p:cNvSpPr/>
          <p:nvPr/>
        </p:nvSpPr>
        <p:spPr>
          <a:xfrm>
            <a:off x="365760" y="3840480"/>
            <a:ext cx="8412480" cy="10058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1100" b="1">
                <a:solidFill>
                  <a:srgbClr val="123524"/>
                </a:solidFill>
                <a:latin typeface="Arial"/>
              </a:defRPr>
            </a:pPr>
            <a:r>
              <a:t>Ergonomic Environmental Cartography &amp; Inspector Drawer UX</a:t>
            </a:r>
          </a:p>
          <a:p>
            <a:pPr>
              <a:spcBef>
                <a:spcPts val="300"/>
              </a:spcBef>
              <a:defRPr sz="950">
                <a:solidFill>
                  <a:srgbClr val="0F172A"/>
                </a:solidFill>
                <a:latin typeface="Arial"/>
              </a:defRPr>
            </a:pPr>
            <a:r>
              <a:t>• Left: Multi-Temporal Remote Sensing Workspace — interactive timeline scrubbing (2019–2026), dual-view satellite raster comparison, and real-time NDVI anomaly inspection.</a:t>
            </a:r>
            <a:br/>
            <a:r>
              <a:t>• Right: Planetary Change Analysis &amp; Dynamic True-Color COG Overlay — live windowed raster rendering showing 1,250.67 ha disturbance detection in West Kalimantan, Indonesia.</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a:defRPr sz="2000" b="1">
                <a:solidFill>
                  <a:srgbClr val="123524"/>
                </a:solidFill>
                <a:latin typeface="Arial"/>
              </a:defRPr>
            </a:pPr>
            <a:r>
              <a:t>Google Cloud Serverless Microservices Architecture</a:t>
            </a:r>
          </a:p>
        </p:txBody>
      </p:sp>
      <p:sp>
        <p:nvSpPr>
          <p:cNvPr id="112" name="Rounded Rectangle 111"/>
          <p:cNvSpPr/>
          <p:nvPr/>
        </p:nvSpPr>
        <p:spPr>
          <a:xfrm>
            <a:off x="365760" y="1234440"/>
            <a:ext cx="2697480" cy="16916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50" b="1">
                <a:solidFill>
                  <a:srgbClr val="1E293B"/>
                </a:solidFill>
                <a:latin typeface="Arial"/>
              </a:defRPr>
            </a:pPr>
            <a:r>
              <a:t>Client Tier (Web &amp; Mobile)</a:t>
            </a:r>
          </a:p>
          <a:p>
            <a:pPr>
              <a:spcBef>
                <a:spcPts val="200"/>
              </a:spcBef>
              <a:defRPr sz="900">
                <a:solidFill>
                  <a:srgbClr val="0F172A"/>
                </a:solidFill>
                <a:latin typeface="Arial"/>
              </a:defRPr>
            </a:pPr>
            <a:r>
              <a:t>• Modern Web &amp; Mobile Browsers</a:t>
            </a:r>
          </a:p>
          <a:p>
            <a:pPr>
              <a:spcBef>
                <a:spcPts val="200"/>
              </a:spcBef>
              <a:defRPr sz="900">
                <a:solidFill>
                  <a:srgbClr val="0F172A"/>
                </a:solidFill>
                <a:latin typeface="Arial"/>
              </a:defRPr>
            </a:pPr>
            <a:r>
              <a:t>• MapLibre GL &amp; Leaflet Vector/Raster Maps</a:t>
            </a:r>
          </a:p>
          <a:p>
            <a:pPr>
              <a:spcBef>
                <a:spcPts val="200"/>
              </a:spcBef>
              <a:defRPr sz="900">
                <a:solidFill>
                  <a:srgbClr val="0F172A"/>
                </a:solidFill>
                <a:latin typeface="Arial"/>
              </a:defRPr>
            </a:pPr>
            <a:r>
              <a:t>• Tailwind CSS Environmental Cartography System</a:t>
            </a:r>
          </a:p>
          <a:p>
            <a:pPr>
              <a:spcBef>
                <a:spcPts val="200"/>
              </a:spcBef>
              <a:defRPr sz="900">
                <a:solidFill>
                  <a:srgbClr val="0F172A"/>
                </a:solidFill>
                <a:latin typeface="Arial"/>
              </a:defRPr>
            </a:pPr>
            <a:r>
              <a:t>• Secure Cookie / JWT Authorization</a:t>
            </a:r>
          </a:p>
        </p:txBody>
      </p:sp>
      <p:sp>
        <p:nvSpPr>
          <p:cNvPr id="113" name="Rounded Rectangle 112"/>
          <p:cNvSpPr/>
          <p:nvPr/>
        </p:nvSpPr>
        <p:spPr>
          <a:xfrm>
            <a:off x="3200400" y="1234440"/>
            <a:ext cx="2697480" cy="16916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50" b="1">
                <a:solidFill>
                  <a:srgbClr val="123524"/>
                </a:solidFill>
                <a:latin typeface="Arial"/>
              </a:defRPr>
            </a:pPr>
            <a:r>
              <a:t>Cloud Run Frontend (Next.js 16)</a:t>
            </a:r>
          </a:p>
          <a:p>
            <a:pPr>
              <a:spcBef>
                <a:spcPts val="200"/>
              </a:spcBef>
              <a:defRPr sz="900">
                <a:solidFill>
                  <a:srgbClr val="0F172A"/>
                </a:solidFill>
                <a:latin typeface="Arial"/>
              </a:defRPr>
            </a:pPr>
            <a:r>
              <a:t>• Containerized Node.js 24 Standalone Server</a:t>
            </a:r>
          </a:p>
          <a:p>
            <a:pPr>
              <a:spcBef>
                <a:spcPts val="200"/>
              </a:spcBef>
              <a:defRPr sz="900">
                <a:solidFill>
                  <a:srgbClr val="0F172A"/>
                </a:solidFill>
                <a:latin typeface="Arial"/>
              </a:defRPr>
            </a:pPr>
            <a:r>
              <a:t>• Dynamic Runtime Reverse Proxy (/api/v1/*)</a:t>
            </a:r>
          </a:p>
          <a:p>
            <a:pPr>
              <a:spcBef>
                <a:spcPts val="200"/>
              </a:spcBef>
              <a:defRPr sz="900">
                <a:solidFill>
                  <a:srgbClr val="0F172A"/>
                </a:solidFill>
                <a:latin typeface="Arial"/>
              </a:defRPr>
            </a:pPr>
            <a:r>
              <a:t>• Eliminates localhost hardcoding via BACKEND_URL</a:t>
            </a:r>
          </a:p>
          <a:p>
            <a:pPr>
              <a:spcBef>
                <a:spcPts val="200"/>
              </a:spcBef>
              <a:defRPr sz="900">
                <a:solidFill>
                  <a:srgbClr val="0F172A"/>
                </a:solidFill>
                <a:latin typeface="Arial"/>
              </a:defRPr>
            </a:pPr>
            <a:r>
              <a:t>• SSR &amp; Client-Side Interactive Map Components</a:t>
            </a:r>
          </a:p>
        </p:txBody>
      </p:sp>
      <p:sp>
        <p:nvSpPr>
          <p:cNvPr id="114" name="Rounded Rectangle 113"/>
          <p:cNvSpPr/>
          <p:nvPr/>
        </p:nvSpPr>
        <p:spPr>
          <a:xfrm>
            <a:off x="6035040" y="1234440"/>
            <a:ext cx="2697480" cy="16916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50" b="1">
                <a:solidFill>
                  <a:srgbClr val="22703E"/>
                </a:solidFill>
                <a:latin typeface="Arial"/>
              </a:defRPr>
            </a:pPr>
            <a:r>
              <a:t>Cloud Run Backend (FastAPI)</a:t>
            </a:r>
          </a:p>
          <a:p>
            <a:pPr>
              <a:spcBef>
                <a:spcPts val="200"/>
              </a:spcBef>
              <a:defRPr sz="900">
                <a:solidFill>
                  <a:srgbClr val="0F172A"/>
                </a:solidFill>
                <a:latin typeface="Arial"/>
              </a:defRPr>
            </a:pPr>
            <a:r>
              <a:t>• High-Performance Async Python 3.11 Runtime</a:t>
            </a:r>
          </a:p>
          <a:p>
            <a:pPr>
              <a:spcBef>
                <a:spcPts val="200"/>
              </a:spcBef>
              <a:defRPr sz="900">
                <a:solidFill>
                  <a:srgbClr val="0F172A"/>
                </a:solidFill>
                <a:latin typeface="Arial"/>
              </a:defRPr>
            </a:pPr>
            <a:r>
              <a:t>• Rasterio &amp; GDAL Windowed COG Streamer</a:t>
            </a:r>
          </a:p>
          <a:p>
            <a:pPr>
              <a:spcBef>
                <a:spcPts val="200"/>
              </a:spcBef>
              <a:defRPr sz="900">
                <a:solidFill>
                  <a:srgbClr val="0F172A"/>
                </a:solidFill>
                <a:latin typeface="Arial"/>
              </a:defRPr>
            </a:pPr>
            <a:r>
              <a:t>• ProofLoop™ Adversarial Evaluation Engine</a:t>
            </a:r>
          </a:p>
          <a:p>
            <a:pPr>
              <a:spcBef>
                <a:spcPts val="200"/>
              </a:spcBef>
              <a:defRPr sz="900">
                <a:solidFill>
                  <a:srgbClr val="0F172A"/>
                </a:solidFill>
                <a:latin typeface="Arial"/>
              </a:defRPr>
            </a:pPr>
            <a:r>
              <a:t>• SQLAlchemy Persistent ORM &amp; Migrations</a:t>
            </a:r>
          </a:p>
        </p:txBody>
      </p:sp>
      <p:sp>
        <p:nvSpPr>
          <p:cNvPr id="115" name="Rounded Rectangle 114"/>
          <p:cNvSpPr/>
          <p:nvPr/>
        </p:nvSpPr>
        <p:spPr>
          <a:xfrm>
            <a:off x="365760" y="3063240"/>
            <a:ext cx="4114800" cy="17830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50" b="1">
                <a:solidFill>
                  <a:srgbClr val="D97706"/>
                </a:solidFill>
                <a:latin typeface="Arial"/>
              </a:defRPr>
            </a:pPr>
            <a:r>
              <a:t>GCP Platform Services</a:t>
            </a:r>
          </a:p>
          <a:p>
            <a:pPr>
              <a:spcBef>
                <a:spcPts val="200"/>
              </a:spcBef>
              <a:defRPr sz="900">
                <a:solidFill>
                  <a:srgbClr val="0F172A"/>
                </a:solidFill>
                <a:latin typeface="Arial"/>
              </a:defRPr>
            </a:pPr>
            <a:r>
              <a:t>• Google Secret Manager (JWT, App &amp; Gemini Keys)</a:t>
            </a:r>
          </a:p>
          <a:p>
            <a:pPr>
              <a:spcBef>
                <a:spcPts val="200"/>
              </a:spcBef>
              <a:defRPr sz="900">
                <a:solidFill>
                  <a:srgbClr val="0F172A"/>
                </a:solidFill>
                <a:latin typeface="Arial"/>
              </a:defRPr>
            </a:pPr>
            <a:r>
              <a:t>• Google Artifact Registry (OCI Docker Images)</a:t>
            </a:r>
          </a:p>
          <a:p>
            <a:pPr>
              <a:spcBef>
                <a:spcPts val="200"/>
              </a:spcBef>
              <a:defRPr sz="900">
                <a:solidFill>
                  <a:srgbClr val="0F172A"/>
                </a:solidFill>
                <a:latin typeface="Arial"/>
              </a:defRPr>
            </a:pPr>
            <a:r>
              <a:t>• Cloud Run Autoscaling (Scale to Zero / Scale Up)</a:t>
            </a:r>
          </a:p>
          <a:p>
            <a:pPr>
              <a:spcBef>
                <a:spcPts val="200"/>
              </a:spcBef>
              <a:defRPr sz="900">
                <a:solidFill>
                  <a:srgbClr val="0F172A"/>
                </a:solidFill>
                <a:latin typeface="Arial"/>
              </a:defRPr>
            </a:pPr>
            <a:r>
              <a:t>• Cloud Logging &amp; Telemetry Auditing</a:t>
            </a:r>
          </a:p>
        </p:txBody>
      </p:sp>
      <p:sp>
        <p:nvSpPr>
          <p:cNvPr id="116" name="Rounded Rectangle 115"/>
          <p:cNvSpPr/>
          <p:nvPr/>
        </p:nvSpPr>
        <p:spPr>
          <a:xfrm>
            <a:off x="4617720" y="3063240"/>
            <a:ext cx="4114800" cy="17830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a:lstStyle/>
          <a:p>
            <a:pPr algn="ctr">
              <a:defRPr sz="1150" b="1">
                <a:solidFill>
                  <a:srgbClr val="0284C7"/>
                </a:solidFill>
                <a:latin typeface="Arial"/>
              </a:defRPr>
            </a:pPr>
            <a:r>
              <a:t>Planetary &amp; AI Data Sources</a:t>
            </a:r>
          </a:p>
          <a:p>
            <a:pPr>
              <a:spcBef>
                <a:spcPts val="200"/>
              </a:spcBef>
              <a:defRPr sz="900">
                <a:solidFill>
                  <a:srgbClr val="0F172A"/>
                </a:solidFill>
                <a:latin typeface="Arial"/>
              </a:defRPr>
            </a:pPr>
            <a:r>
              <a:t>• Google Gemini 3.8 Flash (Google GenAI SDK)</a:t>
            </a:r>
          </a:p>
          <a:p>
            <a:pPr>
              <a:spcBef>
                <a:spcPts val="200"/>
              </a:spcBef>
              <a:defRPr sz="900">
                <a:solidFill>
                  <a:srgbClr val="0F172A"/>
                </a:solidFill>
                <a:latin typeface="Arial"/>
              </a:defRPr>
            </a:pPr>
            <a:r>
              <a:t>• Element84 Earth Search STAC Catalog API</a:t>
            </a:r>
          </a:p>
          <a:p>
            <a:pPr>
              <a:spcBef>
                <a:spcPts val="200"/>
              </a:spcBef>
              <a:defRPr sz="900">
                <a:solidFill>
                  <a:srgbClr val="0F172A"/>
                </a:solidFill>
                <a:latin typeface="Arial"/>
              </a:defRPr>
            </a:pPr>
            <a:r>
              <a:t>• AWS S3 Open Data: Copernicus Sentinel-2 COGs</a:t>
            </a:r>
          </a:p>
          <a:p>
            <a:pPr>
              <a:spcBef>
                <a:spcPts val="200"/>
              </a:spcBef>
              <a:defRPr sz="900">
                <a:solidFill>
                  <a:srgbClr val="0F172A"/>
                </a:solidFill>
                <a:latin typeface="Arial"/>
              </a:defRPr>
            </a:pPr>
            <a:r>
              <a:t>• Hansen Global Forest Change &amp; Dynamic World</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a:defRPr sz="2000" b="1">
                <a:solidFill>
                  <a:srgbClr val="123524"/>
                </a:solidFill>
                <a:latin typeface="Arial"/>
              </a:defRPr>
            </a:pPr>
            <a:r>
              <a:t>Technologies Used in the Solution</a:t>
            </a:r>
          </a:p>
        </p:txBody>
      </p:sp>
      <p:sp>
        <p:nvSpPr>
          <p:cNvPr id="120" name="Rounded Rectangle 119"/>
          <p:cNvSpPr/>
          <p:nvPr/>
        </p:nvSpPr>
        <p:spPr>
          <a:xfrm>
            <a:off x="365760" y="1234440"/>
            <a:ext cx="4114800" cy="1664208"/>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200" b="1">
                <a:solidFill>
                  <a:srgbClr val="123524"/>
                </a:solidFill>
                <a:latin typeface="Arial"/>
              </a:defRPr>
            </a:pPr>
            <a:r>
              <a:t>Google Cloud Platform</a:t>
            </a:r>
          </a:p>
          <a:p>
            <a:pPr>
              <a:spcBef>
                <a:spcPts val="200"/>
              </a:spcBef>
              <a:defRPr sz="950">
                <a:solidFill>
                  <a:srgbClr val="0F172A"/>
                </a:solidFill>
                <a:latin typeface="Arial"/>
              </a:defRPr>
            </a:pPr>
            <a:r>
              <a:t>• Google Cloud Run (Serverless microservice container hosting)</a:t>
            </a:r>
          </a:p>
          <a:p>
            <a:pPr>
              <a:spcBef>
                <a:spcPts val="200"/>
              </a:spcBef>
              <a:defRPr sz="950">
                <a:solidFill>
                  <a:srgbClr val="0F172A"/>
                </a:solidFill>
                <a:latin typeface="Arial"/>
              </a:defRPr>
            </a:pPr>
            <a:r>
              <a:t>• Google Gemini 3.8 Flash (Official Google GenAI Python SDK)</a:t>
            </a:r>
          </a:p>
          <a:p>
            <a:pPr>
              <a:spcBef>
                <a:spcPts val="200"/>
              </a:spcBef>
              <a:defRPr sz="950">
                <a:solidFill>
                  <a:srgbClr val="0F172A"/>
                </a:solidFill>
                <a:latin typeface="Arial"/>
              </a:defRPr>
            </a:pPr>
            <a:r>
              <a:t>• Google Cloud Secret Manager (Encrypted credential RBAC)</a:t>
            </a:r>
          </a:p>
          <a:p>
            <a:pPr>
              <a:spcBef>
                <a:spcPts val="200"/>
              </a:spcBef>
              <a:defRPr sz="950">
                <a:solidFill>
                  <a:srgbClr val="0F172A"/>
                </a:solidFill>
                <a:latin typeface="Arial"/>
              </a:defRPr>
            </a:pPr>
            <a:r>
              <a:t>• Google Artifact Registry (Immutable OCI container repository)</a:t>
            </a:r>
          </a:p>
          <a:p>
            <a:pPr>
              <a:spcBef>
                <a:spcPts val="200"/>
              </a:spcBef>
              <a:defRPr sz="950">
                <a:solidFill>
                  <a:srgbClr val="0F172A"/>
                </a:solidFill>
                <a:latin typeface="Arial"/>
              </a:defRPr>
            </a:pPr>
            <a:r>
              <a:t>• Google Cloud Build (Automated remote Docker image builds)</a:t>
            </a:r>
          </a:p>
        </p:txBody>
      </p:sp>
      <p:sp>
        <p:nvSpPr>
          <p:cNvPr id="121" name="Rounded Rectangle 120"/>
          <p:cNvSpPr/>
          <p:nvPr/>
        </p:nvSpPr>
        <p:spPr>
          <a:xfrm>
            <a:off x="4617720" y="1234440"/>
            <a:ext cx="4114800" cy="1664208"/>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200" b="1">
                <a:solidFill>
                  <a:srgbClr val="22703E"/>
                </a:solidFill>
                <a:latin typeface="Arial"/>
              </a:defRPr>
            </a:pPr>
            <a:r>
              <a:t>Geospatial &amp; Planetary Remote Sensing</a:t>
            </a:r>
          </a:p>
          <a:p>
            <a:pPr>
              <a:spcBef>
                <a:spcPts val="200"/>
              </a:spcBef>
              <a:defRPr sz="950">
                <a:solidFill>
                  <a:srgbClr val="0F172A"/>
                </a:solidFill>
                <a:latin typeface="Arial"/>
              </a:defRPr>
            </a:pPr>
            <a:r>
              <a:t>• Copernicus Sentinel-2 L2A (10m BOA surface reflectance COGs)</a:t>
            </a:r>
          </a:p>
          <a:p>
            <a:pPr>
              <a:spcBef>
                <a:spcPts val="200"/>
              </a:spcBef>
              <a:defRPr sz="950">
                <a:solidFill>
                  <a:srgbClr val="0F172A"/>
                </a:solidFill>
                <a:latin typeface="Arial"/>
              </a:defRPr>
            </a:pPr>
            <a:r>
              <a:t>• GDAL &amp; Rasterio (Sub-pixel windowed HTTP range streaming)</a:t>
            </a:r>
          </a:p>
          <a:p>
            <a:pPr>
              <a:spcBef>
                <a:spcPts val="200"/>
              </a:spcBef>
              <a:defRPr sz="950">
                <a:solidFill>
                  <a:srgbClr val="0F172A"/>
                </a:solidFill>
                <a:latin typeface="Arial"/>
              </a:defRPr>
            </a:pPr>
            <a:r>
              <a:t>• Element84 Earth Search STAC API (SpatioTemporal Asset Catalog)</a:t>
            </a:r>
          </a:p>
          <a:p>
            <a:pPr>
              <a:spcBef>
                <a:spcPts val="200"/>
              </a:spcBef>
              <a:defRPr sz="950">
                <a:solidFill>
                  <a:srgbClr val="0F172A"/>
                </a:solidFill>
                <a:latin typeface="Arial"/>
              </a:defRPr>
            </a:pPr>
            <a:r>
              <a:t>• Hansen Global Forest Change v1.11 (University of Maryland)</a:t>
            </a:r>
          </a:p>
          <a:p>
            <a:pPr>
              <a:spcBef>
                <a:spcPts val="200"/>
              </a:spcBef>
              <a:defRPr sz="950">
                <a:solidFill>
                  <a:srgbClr val="0F172A"/>
                </a:solidFill>
                <a:latin typeface="Arial"/>
              </a:defRPr>
            </a:pPr>
            <a:r>
              <a:t>• Google Dynamic World (Near real-time 10m AI land use)</a:t>
            </a:r>
          </a:p>
        </p:txBody>
      </p:sp>
      <p:sp>
        <p:nvSpPr>
          <p:cNvPr id="122" name="Rounded Rectangle 121"/>
          <p:cNvSpPr/>
          <p:nvPr/>
        </p:nvSpPr>
        <p:spPr>
          <a:xfrm>
            <a:off x="365760" y="3017520"/>
            <a:ext cx="4114800" cy="1664208"/>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200" b="1">
                <a:solidFill>
                  <a:srgbClr val="0284C7"/>
                </a:solidFill>
                <a:latin typeface="Arial"/>
              </a:defRPr>
            </a:pPr>
            <a:r>
              <a:t>Backend Application Engine</a:t>
            </a:r>
          </a:p>
          <a:p>
            <a:pPr>
              <a:spcBef>
                <a:spcPts val="200"/>
              </a:spcBef>
              <a:defRPr sz="950">
                <a:solidFill>
                  <a:srgbClr val="0F172A"/>
                </a:solidFill>
                <a:latin typeface="Arial"/>
              </a:defRPr>
            </a:pPr>
            <a:r>
              <a:t>• FastAPI (Modern, high-performance async Python 3.11 web framework)</a:t>
            </a:r>
          </a:p>
          <a:p>
            <a:pPr>
              <a:spcBef>
                <a:spcPts val="200"/>
              </a:spcBef>
              <a:defRPr sz="950">
                <a:solidFill>
                  <a:srgbClr val="0F172A"/>
                </a:solidFill>
                <a:latin typeface="Arial"/>
              </a:defRPr>
            </a:pPr>
            <a:r>
              <a:t>• SQLAlchemy ORM (Relational database modeling &amp; migrations)</a:t>
            </a:r>
          </a:p>
          <a:p>
            <a:pPr>
              <a:spcBef>
                <a:spcPts val="200"/>
              </a:spcBef>
              <a:defRPr sz="950">
                <a:solidFill>
                  <a:srgbClr val="0F172A"/>
                </a:solidFill>
                <a:latin typeface="Arial"/>
              </a:defRPr>
            </a:pPr>
            <a:r>
              <a:t>• Pydantic v2 (Strict type validation &amp; response schemas)</a:t>
            </a:r>
          </a:p>
          <a:p>
            <a:pPr>
              <a:spcBef>
                <a:spcPts val="200"/>
              </a:spcBef>
              <a:defRPr sz="950">
                <a:solidFill>
                  <a:srgbClr val="0F172A"/>
                </a:solidFill>
                <a:latin typeface="Arial"/>
              </a:defRPr>
            </a:pPr>
            <a:r>
              <a:t>• PyJWT &amp; Argon2id (Cryptographic token security &amp; RBAC)</a:t>
            </a:r>
          </a:p>
          <a:p>
            <a:pPr>
              <a:spcBef>
                <a:spcPts val="200"/>
              </a:spcBef>
              <a:defRPr sz="950">
                <a:solidFill>
                  <a:srgbClr val="0F172A"/>
                </a:solidFill>
                <a:latin typeface="Arial"/>
              </a:defRPr>
            </a:pPr>
            <a:r>
              <a:t>• ReportLab &amp; PyMuPDF (Automated court-admissible PDF generation)</a:t>
            </a:r>
          </a:p>
        </p:txBody>
      </p:sp>
      <p:sp>
        <p:nvSpPr>
          <p:cNvPr id="123" name="Rounded Rectangle 122"/>
          <p:cNvSpPr/>
          <p:nvPr/>
        </p:nvSpPr>
        <p:spPr>
          <a:xfrm>
            <a:off x="4617720" y="3017520"/>
            <a:ext cx="4114800" cy="1664208"/>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200" b="1">
                <a:solidFill>
                  <a:srgbClr val="D97706"/>
                </a:solidFill>
                <a:latin typeface="Arial"/>
              </a:defRPr>
            </a:pPr>
            <a:r>
              <a:t>Frontend Client Architecture</a:t>
            </a:r>
          </a:p>
          <a:p>
            <a:pPr>
              <a:spcBef>
                <a:spcPts val="200"/>
              </a:spcBef>
              <a:defRPr sz="950">
                <a:solidFill>
                  <a:srgbClr val="0F172A"/>
                </a:solidFill>
                <a:latin typeface="Arial"/>
              </a:defRPr>
            </a:pPr>
            <a:r>
              <a:t>• Next.js 16 &amp; React 19 (Server-rendered app router architecture)</a:t>
            </a:r>
          </a:p>
          <a:p>
            <a:pPr>
              <a:spcBef>
                <a:spcPts val="200"/>
              </a:spcBef>
              <a:defRPr sz="950">
                <a:solidFill>
                  <a:srgbClr val="0F172A"/>
                </a:solidFill>
                <a:latin typeface="Arial"/>
              </a:defRPr>
            </a:pPr>
            <a:r>
              <a:t>• MapLibre GL &amp; Leaflet (GPU-accelerated vector and tile rendering)</a:t>
            </a:r>
          </a:p>
          <a:p>
            <a:pPr>
              <a:spcBef>
                <a:spcPts val="200"/>
              </a:spcBef>
              <a:defRPr sz="950">
                <a:solidFill>
                  <a:srgbClr val="0F172A"/>
                </a:solidFill>
                <a:latin typeface="Arial"/>
              </a:defRPr>
            </a:pPr>
            <a:r>
              <a:t>• Tailwind CSS v4 &amp; Lucide Icons (Scientific cartography styling)</a:t>
            </a:r>
          </a:p>
          <a:p>
            <a:pPr>
              <a:spcBef>
                <a:spcPts val="200"/>
              </a:spcBef>
              <a:defRPr sz="950">
                <a:solidFill>
                  <a:srgbClr val="0F172A"/>
                </a:solidFill>
                <a:latin typeface="Arial"/>
              </a:defRPr>
            </a:pPr>
            <a:r>
              <a:t>• Dynamic Node Proxy (Seamless runtime backend request proxying)</a:t>
            </a:r>
          </a:p>
          <a:p>
            <a:pPr>
              <a:spcBef>
                <a:spcPts val="200"/>
              </a:spcBef>
              <a:defRPr sz="950">
                <a:solidFill>
                  <a:srgbClr val="0F172A"/>
                </a:solidFill>
                <a:latin typeface="Arial"/>
              </a:defRPr>
            </a:pPr>
            <a:r>
              <a:t>• GeoJSON &amp; RFC 7946 Standard Exporters (QGIS/ArcGIS interoperability)</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a:defRPr sz="2000" b="1">
                <a:solidFill>
                  <a:srgbClr val="123524"/>
                </a:solidFill>
                <a:latin typeface="Arial"/>
              </a:defRPr>
            </a:pPr>
            <a:r>
              <a:t>Estimated Implementation &amp; Cloud Operating Cost</a:t>
            </a:r>
          </a:p>
        </p:txBody>
      </p:sp>
      <p:sp>
        <p:nvSpPr>
          <p:cNvPr id="128" name="Rounded Rectangle 127"/>
          <p:cNvSpPr/>
          <p:nvPr/>
        </p:nvSpPr>
        <p:spPr>
          <a:xfrm>
            <a:off x="365760" y="1234440"/>
            <a:ext cx="4937760" cy="36118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300" b="1">
                <a:solidFill>
                  <a:srgbClr val="123524"/>
                </a:solidFill>
                <a:latin typeface="Arial"/>
              </a:defRPr>
            </a:pPr>
            <a:r>
              <a:t>Google Cloud Monthly Cost Breakdown (us-central1)</a:t>
            </a:r>
          </a:p>
          <a:p>
            <a:pPr>
              <a:spcBef>
                <a:spcPts val="400"/>
              </a:spcBef>
              <a:defRPr sz="950">
                <a:solidFill>
                  <a:srgbClr val="0F172A"/>
                </a:solidFill>
                <a:latin typeface="Arial"/>
              </a:defRPr>
            </a:pPr>
            <a:r>
              <a:t>• Cloud Run Frontend &amp; Backend: ~$15.00 / mo</a:t>
            </a:r>
            <a:br/>
            <a:r>
              <a:t>   (2M free req/mo; pay-per-use CPU/RAM allocation)</a:t>
            </a:r>
          </a:p>
          <a:p>
            <a:pPr>
              <a:spcBef>
                <a:spcPts val="400"/>
              </a:spcBef>
              <a:defRPr sz="950">
                <a:solidFill>
                  <a:srgbClr val="0F172A"/>
                </a:solidFill>
                <a:latin typeface="Arial"/>
              </a:defRPr>
            </a:pPr>
            <a:r>
              <a:t>• Gemini 3.8 Flash (Google GenAI): ~$5.00 / mo</a:t>
            </a:r>
            <a:br/>
            <a:r>
              <a:t>   ($0.075 / 1M input tokens; low-thinking mode)</a:t>
            </a:r>
          </a:p>
          <a:p>
            <a:pPr>
              <a:spcBef>
                <a:spcPts val="400"/>
              </a:spcBef>
              <a:defRPr sz="950">
                <a:solidFill>
                  <a:srgbClr val="0F172A"/>
                </a:solidFill>
                <a:latin typeface="Arial"/>
              </a:defRPr>
            </a:pPr>
            <a:r>
              <a:t>• Google Secret Manager: ~$0.18 / mo</a:t>
            </a:r>
            <a:br/>
            <a:r>
              <a:t>   (6 active secrets (first 6 free tier included))</a:t>
            </a:r>
          </a:p>
          <a:p>
            <a:pPr>
              <a:spcBef>
                <a:spcPts val="400"/>
              </a:spcBef>
              <a:defRPr sz="950">
                <a:solidFill>
                  <a:srgbClr val="0F172A"/>
                </a:solidFill>
                <a:latin typeface="Arial"/>
              </a:defRPr>
            </a:pPr>
            <a:r>
              <a:t>• Google Artifact Registry: ~$0.50 / mo</a:t>
            </a:r>
            <a:br/>
            <a:r>
              <a:t>   (Container image storage &amp; regional egress)</a:t>
            </a:r>
          </a:p>
          <a:p>
            <a:pPr>
              <a:spcBef>
                <a:spcPts val="400"/>
              </a:spcBef>
              <a:defRPr sz="950">
                <a:solidFill>
                  <a:srgbClr val="0F172A"/>
                </a:solidFill>
                <a:latin typeface="Arial"/>
              </a:defRPr>
            </a:pPr>
            <a:r>
              <a:t>• Copernicus Sentinel-2 Imagery: $0.00 (Free Open Data)</a:t>
            </a:r>
            <a:br/>
            <a:r>
              <a:t>   (AWS Open Data &amp; Element84 Public STAC)</a:t>
            </a:r>
          </a:p>
          <a:p>
            <a:pPr>
              <a:spcBef>
                <a:spcPts val="400"/>
              </a:spcBef>
              <a:defRPr sz="950" b="1">
                <a:solidFill>
                  <a:srgbClr val="22703E"/>
                </a:solidFill>
                <a:latin typeface="Arial"/>
              </a:defRPr>
            </a:pPr>
            <a:r>
              <a:t>• TOTAL OPERATING BUDGET: ~$20.68 / month</a:t>
            </a:r>
            <a:br/>
            <a:r>
              <a:t>   (Enterprise planetary monitoring capability)</a:t>
            </a:r>
          </a:p>
        </p:txBody>
      </p:sp>
      <p:sp>
        <p:nvSpPr>
          <p:cNvPr id="129" name="Rounded Rectangle 128"/>
          <p:cNvSpPr/>
          <p:nvPr/>
        </p:nvSpPr>
        <p:spPr>
          <a:xfrm>
            <a:off x="5486400" y="1234440"/>
            <a:ext cx="3291840" cy="36118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300" b="1">
                <a:solidFill>
                  <a:srgbClr val="22703E"/>
                </a:solidFill>
                <a:latin typeface="Arial"/>
              </a:defRPr>
            </a:pPr>
            <a:r>
              <a:t>Economic ROI &amp; Value Realization</a:t>
            </a:r>
          </a:p>
          <a:p>
            <a:pPr>
              <a:spcBef>
                <a:spcPts val="600"/>
              </a:spcBef>
              <a:defRPr sz="950">
                <a:solidFill>
                  <a:srgbClr val="0F172A"/>
                </a:solidFill>
                <a:latin typeface="Arial"/>
              </a:defRPr>
            </a:pPr>
            <a:r>
              <a:t>✔ Eliminates Costly Field Expeditions: Replaces $5,000–$15,000 on-site ground surveyor trips with instant satellite screening.</a:t>
            </a:r>
          </a:p>
          <a:p>
            <a:pPr>
              <a:spcBef>
                <a:spcPts val="600"/>
              </a:spcBef>
              <a:defRPr sz="950">
                <a:solidFill>
                  <a:srgbClr val="0F172A"/>
                </a:solidFill>
                <a:latin typeface="Arial"/>
              </a:defRPr>
            </a:pPr>
            <a:r>
              <a:t>✔ Serverless Scale-to-Zero: Zero idle costs when no screening is active; dynamically autoscales under high investigation loads.</a:t>
            </a:r>
          </a:p>
          <a:p>
            <a:pPr>
              <a:spcBef>
                <a:spcPts val="600"/>
              </a:spcBef>
              <a:defRPr sz="950">
                <a:solidFill>
                  <a:srgbClr val="0F172A"/>
                </a:solidFill>
                <a:latin typeface="Arial"/>
              </a:defRPr>
            </a:pPr>
            <a:r>
              <a:t>✔ Prevents Multi-Million Penalties: Protects forest authorities and carbon registries from fraudulent carbon offset credit certification.</a:t>
            </a:r>
          </a:p>
          <a:p>
            <a:pPr>
              <a:spcBef>
                <a:spcPts val="600"/>
              </a:spcBef>
              <a:defRPr sz="950">
                <a:solidFill>
                  <a:srgbClr val="0F172A"/>
                </a:solidFill>
                <a:latin typeface="Arial"/>
              </a:defRPr>
            </a:pPr>
            <a:r>
              <a:t>✔ Court-Admissible Evidence: Standardized FER dossiers eliminate weeks of manual legal drafting for regulatory enforcement.</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a:defRPr sz="2000" b="1">
                <a:solidFill>
                  <a:srgbClr val="123524"/>
                </a:solidFill>
                <a:latin typeface="Arial"/>
              </a:defRPr>
            </a:pPr>
            <a:r>
              <a:t>Snapshots of the Working Prototype</a:t>
            </a:r>
          </a:p>
        </p:txBody>
      </p:sp>
      <p:pic>
        <p:nvPicPr>
          <p:cNvPr id="136" name="Picture 135" descr="media_1792331492542.png"/>
          <p:cNvPicPr>
            <a:picLocks noChangeAspect="1"/>
          </p:cNvPicPr>
          <p:nvPr/>
        </p:nvPicPr>
        <p:blipFill>
          <a:blip r:embed="rId5"/>
          <a:stretch>
            <a:fillRect/>
          </a:stretch>
        </p:blipFill>
        <p:spPr>
          <a:xfrm>
            <a:off x="365760" y="1234440"/>
            <a:ext cx="4069080" cy="2514600"/>
          </a:xfrm>
          <a:prstGeom prst="rect">
            <a:avLst/>
          </a:prstGeom>
        </p:spPr>
      </p:pic>
      <p:pic>
        <p:nvPicPr>
          <p:cNvPr id="137" name="Picture 136" descr="media_1792323545253.png"/>
          <p:cNvPicPr>
            <a:picLocks noChangeAspect="1"/>
          </p:cNvPicPr>
          <p:nvPr/>
        </p:nvPicPr>
        <p:blipFill>
          <a:blip r:embed="rId6"/>
          <a:stretch>
            <a:fillRect/>
          </a:stretch>
        </p:blipFill>
        <p:spPr>
          <a:xfrm>
            <a:off x="4617720" y="1234440"/>
            <a:ext cx="4069080" cy="2514600"/>
          </a:xfrm>
          <a:prstGeom prst="rect">
            <a:avLst/>
          </a:prstGeom>
        </p:spPr>
      </p:pic>
      <p:sp>
        <p:nvSpPr>
          <p:cNvPr id="138" name="Rounded Rectangle 137"/>
          <p:cNvSpPr/>
          <p:nvPr/>
        </p:nvSpPr>
        <p:spPr>
          <a:xfrm>
            <a:off x="365760" y="3840480"/>
            <a:ext cx="8412480" cy="10058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1100" b="1">
                <a:solidFill>
                  <a:srgbClr val="123524"/>
                </a:solidFill>
                <a:latin typeface="Arial"/>
              </a:defRPr>
            </a:pPr>
            <a:r>
              <a:t>Live Cloud Run Deployment — Verified End-to-End Functionality</a:t>
            </a:r>
          </a:p>
          <a:p>
            <a:pPr>
              <a:spcBef>
                <a:spcPts val="300"/>
              </a:spcBef>
              <a:defRPr sz="950">
                <a:solidFill>
                  <a:srgbClr val="0F172A"/>
                </a:solidFill>
                <a:latin typeface="Arial"/>
              </a:defRPr>
            </a:pPr>
            <a:r>
              <a:t>• Left: Planetary Change Analysis on live Cloud Run deployment detecting 1,250.67 ha disturbance with Sentinel-2 True Color COG overlay.</a:t>
            </a:r>
            <a:br/>
            <a:r>
              <a:t>• Right: Regulatory Concession Registry &amp; Fast Environmental Review (FER) management showing reference cases and multi-sensor audit telemetry.</a:t>
            </a:r>
            <a:br/>
            <a:r>
              <a:t>• Live Production Endpoint: https://ecosentinel-frontend-cz4cwc3wta-uc.a.run.app</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a:defRPr sz="2000" b="1">
                <a:solidFill>
                  <a:srgbClr val="123524"/>
                </a:solidFill>
                <a:latin typeface="Arial"/>
              </a:defRPr>
            </a:pPr>
            <a:r>
              <a:t>Prototype Performance Report &amp; Benchmarking</a:t>
            </a:r>
          </a:p>
        </p:txBody>
      </p:sp>
      <p:sp>
        <p:nvSpPr>
          <p:cNvPr id="144" name="Rounded Rectangle 143"/>
          <p:cNvSpPr/>
          <p:nvPr/>
        </p:nvSpPr>
        <p:spPr>
          <a:xfrm>
            <a:off x="365760" y="1234440"/>
            <a:ext cx="2011680" cy="150876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defRPr sz="1000" b="1">
                <a:solidFill>
                  <a:srgbClr val="475569"/>
                </a:solidFill>
                <a:latin typeface="Arial"/>
              </a:defRPr>
            </a:pPr>
            <a:r>
              <a:t>STAC Satellite Discovery</a:t>
            </a:r>
          </a:p>
          <a:p>
            <a:pPr>
              <a:spcBef>
                <a:spcPts val="200"/>
              </a:spcBef>
              <a:spcAft>
                <a:spcPts val="200"/>
              </a:spcAft>
              <a:defRPr sz="2200" b="1">
                <a:solidFill>
                  <a:srgbClr val="22703E"/>
                </a:solidFill>
                <a:latin typeface="Arial"/>
              </a:defRPr>
            </a:pPr>
            <a:r>
              <a:t>1.18 s</a:t>
            </a:r>
          </a:p>
          <a:p>
            <a:pPr>
              <a:defRPr sz="850">
                <a:solidFill>
                  <a:srgbClr val="0F172A"/>
                </a:solidFill>
                <a:latin typeface="Arial"/>
              </a:defRPr>
            </a:pPr>
            <a:r>
              <a:t>Element84 catalog search across multi-temporal Sentinel-2 acquisitions.</a:t>
            </a:r>
          </a:p>
        </p:txBody>
      </p:sp>
      <p:sp>
        <p:nvSpPr>
          <p:cNvPr id="145" name="Rounded Rectangle 144"/>
          <p:cNvSpPr/>
          <p:nvPr/>
        </p:nvSpPr>
        <p:spPr>
          <a:xfrm>
            <a:off x="2496312" y="1234440"/>
            <a:ext cx="2011680" cy="150876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defRPr sz="1000" b="1">
                <a:solidFill>
                  <a:srgbClr val="475569"/>
                </a:solidFill>
                <a:latin typeface="Arial"/>
              </a:defRPr>
            </a:pPr>
            <a:r>
              <a:t>Windowed COG Band Math</a:t>
            </a:r>
          </a:p>
          <a:p>
            <a:pPr>
              <a:spcBef>
                <a:spcPts val="200"/>
              </a:spcBef>
              <a:spcAft>
                <a:spcPts val="200"/>
              </a:spcAft>
              <a:defRPr sz="2200" b="1">
                <a:solidFill>
                  <a:srgbClr val="0284C7"/>
                </a:solidFill>
                <a:latin typeface="Arial"/>
              </a:defRPr>
            </a:pPr>
            <a:r>
              <a:t>3.42 s</a:t>
            </a:r>
          </a:p>
          <a:p>
            <a:pPr>
              <a:defRPr sz="850">
                <a:solidFill>
                  <a:srgbClr val="0F172A"/>
                </a:solidFill>
                <a:latin typeface="Arial"/>
              </a:defRPr>
            </a:pPr>
            <a:r>
              <a:t>HTTP byte-range download + sub-pixel NDVI calculation &amp; SCL masking.</a:t>
            </a:r>
          </a:p>
        </p:txBody>
      </p:sp>
      <p:sp>
        <p:nvSpPr>
          <p:cNvPr id="146" name="Rounded Rectangle 145"/>
          <p:cNvSpPr/>
          <p:nvPr/>
        </p:nvSpPr>
        <p:spPr>
          <a:xfrm>
            <a:off x="4626864" y="1234440"/>
            <a:ext cx="2011680" cy="150876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defRPr sz="1000" b="1">
                <a:solidFill>
                  <a:srgbClr val="475569"/>
                </a:solidFill>
                <a:latin typeface="Arial"/>
              </a:defRPr>
            </a:pPr>
            <a:r>
              <a:t>Gemini 3.8 Flash ProofLoop™</a:t>
            </a:r>
          </a:p>
          <a:p>
            <a:pPr>
              <a:spcBef>
                <a:spcPts val="200"/>
              </a:spcBef>
              <a:spcAft>
                <a:spcPts val="200"/>
              </a:spcAft>
              <a:defRPr sz="2200" b="1">
                <a:solidFill>
                  <a:srgbClr val="123524"/>
                </a:solidFill>
                <a:latin typeface="Arial"/>
              </a:defRPr>
            </a:pPr>
            <a:r>
              <a:t>2.75 s</a:t>
            </a:r>
          </a:p>
          <a:p>
            <a:pPr>
              <a:defRPr sz="850">
                <a:solidFill>
                  <a:srgbClr val="0F172A"/>
                </a:solidFill>
                <a:latin typeface="Arial"/>
              </a:defRPr>
            </a:pPr>
            <a:r>
              <a:t>Adversarial counter-evidence reasoning operating in low-thinking mode.</a:t>
            </a:r>
          </a:p>
        </p:txBody>
      </p:sp>
      <p:sp>
        <p:nvSpPr>
          <p:cNvPr id="147" name="Rounded Rectangle 146"/>
          <p:cNvSpPr/>
          <p:nvPr/>
        </p:nvSpPr>
        <p:spPr>
          <a:xfrm>
            <a:off x="6757416" y="1234440"/>
            <a:ext cx="2011680" cy="150876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a:lstStyle/>
          <a:p>
            <a:pPr algn="ctr">
              <a:defRPr sz="1000" b="1">
                <a:solidFill>
                  <a:srgbClr val="475569"/>
                </a:solidFill>
                <a:latin typeface="Arial"/>
              </a:defRPr>
            </a:pPr>
            <a:r>
              <a:t>Cloud Run Cold Start</a:t>
            </a:r>
          </a:p>
          <a:p>
            <a:pPr>
              <a:spcBef>
                <a:spcPts val="200"/>
              </a:spcBef>
              <a:spcAft>
                <a:spcPts val="200"/>
              </a:spcAft>
              <a:defRPr sz="2200" b="1">
                <a:solidFill>
                  <a:srgbClr val="D97706"/>
                </a:solidFill>
                <a:latin typeface="Arial"/>
              </a:defRPr>
            </a:pPr>
            <a:r>
              <a:t>2.38 s</a:t>
            </a:r>
          </a:p>
          <a:p>
            <a:pPr>
              <a:defRPr sz="850">
                <a:solidFill>
                  <a:srgbClr val="0F172A"/>
                </a:solidFill>
                <a:latin typeface="Arial"/>
              </a:defRPr>
            </a:pPr>
            <a:r>
              <a:t>Optimized container startup with pre-built GDAL and Rasterio binaries.</a:t>
            </a:r>
          </a:p>
        </p:txBody>
      </p:sp>
      <p:sp>
        <p:nvSpPr>
          <p:cNvPr id="148" name="Rounded Rectangle 147"/>
          <p:cNvSpPr/>
          <p:nvPr/>
        </p:nvSpPr>
        <p:spPr>
          <a:xfrm>
            <a:off x="365760" y="2880360"/>
            <a:ext cx="8412480" cy="196596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200" b="1">
                <a:solidFill>
                  <a:srgbClr val="123524"/>
                </a:solidFill>
                <a:latin typeface="Arial"/>
              </a:defRPr>
            </a:pPr>
            <a:r>
              <a:t>Production Automated Verification Test Suite (7/7 Live Cloud Run Tests Passing)</a:t>
            </a:r>
          </a:p>
          <a:p>
            <a:pPr>
              <a:spcBef>
                <a:spcPts val="200"/>
              </a:spcBef>
              <a:defRPr sz="900">
                <a:solidFill>
                  <a:srgbClr val="0F172A"/>
                </a:solidFill>
                <a:latin typeface="Arial"/>
              </a:defRPr>
            </a:pPr>
            <a:r>
              <a:t>✔ Test 1: Direct Backend Health Check — Live Cloud Run FastAPI liveness probe returns HTTP 200 {status: healthy}.</a:t>
            </a:r>
          </a:p>
          <a:p>
            <a:pPr>
              <a:spcBef>
                <a:spcPts val="200"/>
              </a:spcBef>
              <a:defRPr sz="900">
                <a:solidFill>
                  <a:srgbClr val="0F172A"/>
                </a:solidFill>
                <a:latin typeface="Arial"/>
              </a:defRPr>
            </a:pPr>
            <a:r>
              <a:t>✔ Test 2: Frontend Reverse Proxy — Next.js 16 runtime proxy transparently forwards /api/v1/system/health to backend.</a:t>
            </a:r>
          </a:p>
          <a:p>
            <a:pPr>
              <a:spcBef>
                <a:spcPts val="200"/>
              </a:spcBef>
              <a:defRPr sz="900">
                <a:solidFill>
                  <a:srgbClr val="0F172A"/>
                </a:solidFill>
                <a:latin typeface="Arial"/>
              </a:defRPr>
            </a:pPr>
            <a:r>
              <a:t>✔ Test 3: JWT Security &amp; User Auth — Dynamic user registration and JWT bearer token issuance succeed over HTTPS.</a:t>
            </a:r>
          </a:p>
          <a:p>
            <a:pPr>
              <a:spcBef>
                <a:spcPts val="200"/>
              </a:spcBef>
              <a:defRPr sz="900">
                <a:solidFill>
                  <a:srgbClr val="0F172A"/>
                </a:solidFill>
                <a:latin typeface="Arial"/>
              </a:defRPr>
            </a:pPr>
            <a:r>
              <a:t>✔ Test 4: Concession Registry Retrieval — Mayawana flagship reference investigation retrieved with 12 multi-sensor epochs.</a:t>
            </a:r>
          </a:p>
          <a:p>
            <a:pPr>
              <a:spcBef>
                <a:spcPts val="200"/>
              </a:spcBef>
              <a:defRPr sz="900">
                <a:solidFill>
                  <a:srgbClr val="0F172A"/>
                </a:solidFill>
                <a:latin typeface="Arial"/>
              </a:defRPr>
            </a:pPr>
            <a:r>
              <a:t>✔ Test 5: Live STAC Observation Discovery — Element84 catalog query returns authentic Copernicus Sentinel-2 L2A granules.</a:t>
            </a:r>
          </a:p>
          <a:p>
            <a:pPr>
              <a:spcBef>
                <a:spcPts val="200"/>
              </a:spcBef>
              <a:defRPr sz="900">
                <a:solidFill>
                  <a:srgbClr val="0F172A"/>
                </a:solidFill>
                <a:latin typeface="Arial"/>
              </a:defRPr>
            </a:pPr>
            <a:r>
              <a:t>✔ Test 6: Windowed COG True-Color &amp; NDVI Overlay — Real-time windowed JPEG raster returned directly from AWS Open Data.</a:t>
            </a:r>
          </a:p>
          <a:p>
            <a:pPr>
              <a:spcBef>
                <a:spcPts val="200"/>
              </a:spcBef>
              <a:defRPr sz="900">
                <a:solidFill>
                  <a:srgbClr val="0F172A"/>
                </a:solidFill>
                <a:latin typeface="Arial"/>
              </a:defRPr>
            </a:pPr>
            <a:r>
              <a:t>✔ Test 7: Legal Dossier &amp; GeoJSON Export — Generates valid RFC 7946 FeatureCollection and publication-ready FER dossier.</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a:defRPr sz="2000" b="1">
                <a:solidFill>
                  <a:srgbClr val="123524"/>
                </a:solidFill>
                <a:latin typeface="Arial"/>
              </a:defRPr>
            </a:pPr>
            <a:r>
              <a:t>Future Development Roadmap &amp; Planetary Vision</a:t>
            </a:r>
          </a:p>
        </p:txBody>
      </p:sp>
      <p:sp>
        <p:nvSpPr>
          <p:cNvPr id="152" name="Rounded Rectangle 151"/>
          <p:cNvSpPr/>
          <p:nvPr/>
        </p:nvSpPr>
        <p:spPr>
          <a:xfrm>
            <a:off x="365760" y="1234440"/>
            <a:ext cx="4114800" cy="1664208"/>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200" b="1">
                <a:solidFill>
                  <a:srgbClr val="123524"/>
                </a:solidFill>
                <a:latin typeface="Arial"/>
              </a:defRPr>
            </a:pPr>
            <a:r>
              <a:t>Phase 1: Sub-Meter &amp; LiDAR Ingestion</a:t>
            </a:r>
          </a:p>
          <a:p>
            <a:pPr>
              <a:spcBef>
                <a:spcPts val="100"/>
              </a:spcBef>
              <a:spcAft>
                <a:spcPts val="400"/>
              </a:spcAft>
              <a:defRPr sz="900" b="1">
                <a:solidFill>
                  <a:srgbClr val="475569"/>
                </a:solidFill>
                <a:latin typeface="Arial"/>
              </a:defRPr>
            </a:pPr>
            <a:r>
              <a:t>Near-Term (Q3 2026)</a:t>
            </a:r>
          </a:p>
          <a:p>
            <a:pPr>
              <a:spcBef>
                <a:spcPts val="200"/>
              </a:spcBef>
              <a:defRPr sz="950">
                <a:solidFill>
                  <a:srgbClr val="0F172A"/>
                </a:solidFill>
                <a:latin typeface="Arial"/>
              </a:defRPr>
            </a:pPr>
            <a:r>
              <a:t>• Integration of Planet NICFI (4.7m) high-resolution monthly basemaps across tropical forest zones.</a:t>
            </a:r>
          </a:p>
          <a:p>
            <a:pPr>
              <a:spcBef>
                <a:spcPts val="200"/>
              </a:spcBef>
              <a:defRPr sz="950">
                <a:solidFill>
                  <a:srgbClr val="0F172A"/>
                </a:solidFill>
                <a:latin typeface="Arial"/>
              </a:defRPr>
            </a:pPr>
            <a:r>
              <a:t>• Ingestion of NASA GEDI LiDAR spaceborne waveform data for exact vertical canopy height and aboveground biomass (AGBD) loss quantification.</a:t>
            </a:r>
          </a:p>
        </p:txBody>
      </p:sp>
      <p:sp>
        <p:nvSpPr>
          <p:cNvPr id="153" name="Rounded Rectangle 152"/>
          <p:cNvSpPr/>
          <p:nvPr/>
        </p:nvSpPr>
        <p:spPr>
          <a:xfrm>
            <a:off x="4617720" y="1234440"/>
            <a:ext cx="4114800" cy="1664208"/>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200" b="1">
                <a:solidFill>
                  <a:srgbClr val="22703E"/>
                </a:solidFill>
                <a:latin typeface="Arial"/>
              </a:defRPr>
            </a:pPr>
            <a:r>
              <a:t>Phase 2: Offline Field Ranger Portal</a:t>
            </a:r>
          </a:p>
          <a:p>
            <a:pPr>
              <a:spcBef>
                <a:spcPts val="100"/>
              </a:spcBef>
              <a:spcAft>
                <a:spcPts val="400"/>
              </a:spcAft>
              <a:defRPr sz="900" b="1">
                <a:solidFill>
                  <a:srgbClr val="475569"/>
                </a:solidFill>
                <a:latin typeface="Arial"/>
              </a:defRPr>
            </a:pPr>
            <a:r>
              <a:t>Mid-Term (Q4 2026)</a:t>
            </a:r>
          </a:p>
          <a:p>
            <a:pPr>
              <a:spcBef>
                <a:spcPts val="200"/>
              </a:spcBef>
              <a:defRPr sz="950">
                <a:solidFill>
                  <a:srgbClr val="0F172A"/>
                </a:solidFill>
                <a:latin typeface="Arial"/>
              </a:defRPr>
            </a:pPr>
            <a:r>
              <a:t>• Progressive Web App (PWA) tailored for field forestry rangers with offline MBTiles vector map caching.</a:t>
            </a:r>
          </a:p>
          <a:p>
            <a:pPr>
              <a:spcBef>
                <a:spcPts val="200"/>
              </a:spcBef>
              <a:defRPr sz="950">
                <a:solidFill>
                  <a:srgbClr val="0F172A"/>
                </a:solidFill>
                <a:latin typeface="Arial"/>
              </a:defRPr>
            </a:pPr>
            <a:r>
              <a:t>• Ground-truth photo geotagging and on-device offline GPS waypoint synchronization when patrolling remote peatlands without cellular coverage.</a:t>
            </a:r>
          </a:p>
        </p:txBody>
      </p:sp>
      <p:sp>
        <p:nvSpPr>
          <p:cNvPr id="154" name="Rounded Rectangle 153"/>
          <p:cNvSpPr/>
          <p:nvPr/>
        </p:nvSpPr>
        <p:spPr>
          <a:xfrm>
            <a:off x="365760" y="3017520"/>
            <a:ext cx="4114800" cy="1664208"/>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200" b="1">
                <a:solidFill>
                  <a:srgbClr val="0284C7"/>
                </a:solidFill>
                <a:latin typeface="Arial"/>
              </a:defRPr>
            </a:pPr>
            <a:r>
              <a:t>Phase 3: Autonomous Drone / UAV Dispatch</a:t>
            </a:r>
          </a:p>
          <a:p>
            <a:pPr>
              <a:spcBef>
                <a:spcPts val="100"/>
              </a:spcBef>
              <a:spcAft>
                <a:spcPts val="400"/>
              </a:spcAft>
              <a:defRPr sz="900" b="1">
                <a:solidFill>
                  <a:srgbClr val="475569"/>
                </a:solidFill>
                <a:latin typeface="Arial"/>
              </a:defRPr>
            </a:pPr>
            <a:r>
              <a:t>Long-Term (Q1 2027)</a:t>
            </a:r>
          </a:p>
          <a:p>
            <a:pPr>
              <a:spcBef>
                <a:spcPts val="200"/>
              </a:spcBef>
              <a:defRPr sz="950">
                <a:solidFill>
                  <a:srgbClr val="0F172A"/>
                </a:solidFill>
                <a:latin typeface="Arial"/>
              </a:defRPr>
            </a:pPr>
            <a:r>
              <a:t>• Automated export of KML waypoint survey missions for autonomous field drone verification.</a:t>
            </a:r>
          </a:p>
          <a:p>
            <a:pPr>
              <a:spcBef>
                <a:spcPts val="200"/>
              </a:spcBef>
              <a:defRPr sz="950">
                <a:solidFill>
                  <a:srgbClr val="0F172A"/>
                </a:solidFill>
                <a:latin typeface="Arial"/>
              </a:defRPr>
            </a:pPr>
            <a:r>
              <a:t>• Sub-centimeter orthomosaic ingestion and automated co-registration with Sentinel-2 orbital rasters to establish definitive legal liability.</a:t>
            </a:r>
          </a:p>
        </p:txBody>
      </p:sp>
      <p:sp>
        <p:nvSpPr>
          <p:cNvPr id="155" name="Rounded Rectangle 154"/>
          <p:cNvSpPr/>
          <p:nvPr/>
        </p:nvSpPr>
        <p:spPr>
          <a:xfrm>
            <a:off x="4617720" y="3017520"/>
            <a:ext cx="4114800" cy="1664208"/>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200" b="1">
                <a:solidFill>
                  <a:srgbClr val="D97706"/>
                </a:solidFill>
                <a:latin typeface="Arial"/>
              </a:defRPr>
            </a:pPr>
            <a:r>
              <a:t>Phase 4: EUDR Compliance &amp; Carbon Market</a:t>
            </a:r>
          </a:p>
          <a:p>
            <a:pPr>
              <a:spcBef>
                <a:spcPts val="100"/>
              </a:spcBef>
              <a:spcAft>
                <a:spcPts val="400"/>
              </a:spcAft>
              <a:defRPr sz="900" b="1">
                <a:solidFill>
                  <a:srgbClr val="475569"/>
                </a:solidFill>
                <a:latin typeface="Arial"/>
              </a:defRPr>
            </a:pPr>
            <a:r>
              <a:t>Global Scale (Q2 2027)</a:t>
            </a:r>
          </a:p>
          <a:p>
            <a:pPr>
              <a:spcBef>
                <a:spcPts val="200"/>
              </a:spcBef>
              <a:defRPr sz="950">
                <a:solidFill>
                  <a:srgbClr val="0F172A"/>
                </a:solidFill>
                <a:latin typeface="Arial"/>
              </a:defRPr>
            </a:pPr>
            <a:r>
              <a:t>• Full integration with EU Deforestation Regulation (EUDR) mandatory due-diligence reporting schemas.</a:t>
            </a:r>
          </a:p>
          <a:p>
            <a:pPr>
              <a:spcBef>
                <a:spcPts val="200"/>
              </a:spcBef>
              <a:defRPr sz="950">
                <a:solidFill>
                  <a:srgbClr val="0F172A"/>
                </a:solidFill>
                <a:latin typeface="Arial"/>
              </a:defRPr>
            </a:pPr>
            <a:r>
              <a:t>• Automated cryptographic provenance issuance for voluntary carbon market (VCM) permanence validation.</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1333800"/>
          </a:xfrm>
          <a:prstGeom prst="rect">
            <a:avLst/>
          </a:prstGeom>
          <a:noFill/>
          <a:ln>
            <a:noFill/>
          </a:ln>
        </p:spPr>
        <p:txBody>
          <a:bodyPr anchorCtr="0" anchor="t" bIns="91425" lIns="91425" spcFirstLastPara="1" rIns="91425" wrap="square" tIns="91425">
            <a:noAutofit/>
          </a:bodyPr>
          <a:lstStyle/>
          <a:p>
            <a:pPr>
              <a:defRPr sz="2000" b="1">
                <a:solidFill>
                  <a:srgbClr val="123524"/>
                </a:solidFill>
                <a:latin typeface="Arial"/>
              </a:defRPr>
            </a:pPr>
            <a:r>
              <a:t>Deliverable Links &amp; Deployment Verification</a:t>
            </a:r>
          </a:p>
        </p:txBody>
      </p:sp>
      <p:sp>
        <p:nvSpPr>
          <p:cNvPr id="160" name="Rounded Rectangle 159"/>
          <p:cNvSpPr/>
          <p:nvPr/>
        </p:nvSpPr>
        <p:spPr>
          <a:xfrm>
            <a:off x="365760" y="1234440"/>
            <a:ext cx="8412480" cy="1115568"/>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1200" b="1">
                <a:solidFill>
                  <a:srgbClr val="123524"/>
                </a:solidFill>
                <a:latin typeface="Arial"/>
              </a:defRPr>
            </a:pPr>
            <a:r>
              <a:t>GitHub Public Repository</a:t>
            </a:r>
          </a:p>
          <a:p>
            <a:pPr>
              <a:spcBef>
                <a:spcPts val="200"/>
              </a:spcBef>
              <a:defRPr sz="1050" b="1">
                <a:solidFill>
                  <a:srgbClr val="0284C7"/>
                </a:solidFill>
                <a:latin typeface="Arial"/>
              </a:defRPr>
            </a:pPr>
            <a:r>
              <a:t>https://github.com/AP952005/EcoSentinel</a:t>
            </a:r>
          </a:p>
          <a:p>
            <a:pPr>
              <a:spcBef>
                <a:spcPts val="200"/>
              </a:spcBef>
              <a:defRPr sz="900">
                <a:solidFill>
                  <a:srgbClr val="0F172A"/>
                </a:solidFill>
                <a:latin typeface="Arial"/>
              </a:defRPr>
            </a:pPr>
            <a:r>
              <a:t>• Complete open-source codebase, Dockerfiles, and CI/CD Cloud Build specifications.</a:t>
            </a:r>
          </a:p>
          <a:p>
            <a:pPr>
              <a:spcBef>
                <a:spcPts val="200"/>
              </a:spcBef>
              <a:defRPr sz="900">
                <a:solidFill>
                  <a:srgbClr val="0F172A"/>
                </a:solidFill>
                <a:latin typeface="Arial"/>
              </a:defRPr>
            </a:pPr>
            <a:r>
              <a:t>• Comprehensive architectural documentation, API schemas, and automated test suites.</a:t>
            </a:r>
          </a:p>
          <a:p>
            <a:pPr>
              <a:spcBef>
                <a:spcPts val="200"/>
              </a:spcBef>
              <a:defRPr sz="900">
                <a:solidFill>
                  <a:srgbClr val="0F172A"/>
                </a:solidFill>
                <a:latin typeface="Arial"/>
              </a:defRPr>
            </a:pPr>
            <a:r>
              <a:t>• Reproducible environment configuration and local setup instructions.</a:t>
            </a:r>
          </a:p>
        </p:txBody>
      </p:sp>
      <p:sp>
        <p:nvSpPr>
          <p:cNvPr id="161" name="Rounded Rectangle 160"/>
          <p:cNvSpPr/>
          <p:nvPr/>
        </p:nvSpPr>
        <p:spPr>
          <a:xfrm>
            <a:off x="365760" y="2441448"/>
            <a:ext cx="8412480" cy="1115568"/>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1200" b="1">
                <a:solidFill>
                  <a:srgbClr val="22703E"/>
                </a:solidFill>
                <a:latin typeface="Arial"/>
              </a:defRPr>
            </a:pPr>
            <a:r>
              <a:t>Live Product Deployment (Google Cloud Run)</a:t>
            </a:r>
          </a:p>
          <a:p>
            <a:pPr>
              <a:spcBef>
                <a:spcPts val="200"/>
              </a:spcBef>
              <a:defRPr sz="1050" b="1">
                <a:solidFill>
                  <a:srgbClr val="0284C7"/>
                </a:solidFill>
                <a:latin typeface="Arial"/>
              </a:defRPr>
            </a:pPr>
            <a:r>
              <a:t>https://ecosentinel-frontend-cz4cwc3wta-uc.a.run.app</a:t>
            </a:r>
          </a:p>
          <a:p>
            <a:pPr>
              <a:spcBef>
                <a:spcPts val="200"/>
              </a:spcBef>
              <a:defRPr sz="900">
                <a:solidFill>
                  <a:srgbClr val="0F172A"/>
                </a:solidFill>
                <a:latin typeface="Arial"/>
              </a:defRPr>
            </a:pPr>
            <a:r>
              <a:t>• Frontend Web Application: https://ecosentinel-frontend-cz4cwc3wta-uc.a.run.app</a:t>
            </a:r>
          </a:p>
          <a:p>
            <a:pPr>
              <a:spcBef>
                <a:spcPts val="200"/>
              </a:spcBef>
              <a:defRPr sz="900">
                <a:solidFill>
                  <a:srgbClr val="0F172A"/>
                </a:solidFill>
                <a:latin typeface="Arial"/>
              </a:defRPr>
            </a:pPr>
            <a:r>
              <a:t>• Backend API Service: https://ecosentinel-backend-cz4cwc3wta-uc.a.run.app</a:t>
            </a:r>
          </a:p>
          <a:p>
            <a:pPr>
              <a:spcBef>
                <a:spcPts val="200"/>
              </a:spcBef>
              <a:defRPr sz="900">
                <a:solidFill>
                  <a:srgbClr val="0F172A"/>
                </a:solidFill>
                <a:latin typeface="Arial"/>
              </a:defRPr>
            </a:pPr>
            <a:r>
              <a:t>• Interactive OpenAPI Docs: https://ecosentinel-backend-cz4cwc3wta-uc.a.run.app/api/docs</a:t>
            </a:r>
          </a:p>
          <a:p>
            <a:pPr>
              <a:spcBef>
                <a:spcPts val="200"/>
              </a:spcBef>
              <a:defRPr sz="900">
                <a:solidFill>
                  <a:srgbClr val="0F172A"/>
                </a:solidFill>
                <a:latin typeface="Arial"/>
              </a:defRPr>
            </a:pPr>
            <a:r>
              <a:t>• 100% operational in GCP us-central1 with automated secret injection.</a:t>
            </a:r>
          </a:p>
        </p:txBody>
      </p:sp>
      <p:sp>
        <p:nvSpPr>
          <p:cNvPr id="162" name="Rounded Rectangle 161"/>
          <p:cNvSpPr/>
          <p:nvPr/>
        </p:nvSpPr>
        <p:spPr>
          <a:xfrm>
            <a:off x="365760" y="3648456"/>
            <a:ext cx="8412480" cy="1115568"/>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1200" b="1">
                <a:solidFill>
                  <a:srgbClr val="0284C7"/>
                </a:solidFill>
                <a:latin typeface="Arial"/>
              </a:defRPr>
            </a:pPr>
            <a:r>
              <a:t>Demonstration Video (3 Minutes)</a:t>
            </a:r>
          </a:p>
          <a:p>
            <a:pPr>
              <a:spcBef>
                <a:spcPts val="200"/>
              </a:spcBef>
              <a:defRPr sz="1050" b="1">
                <a:solidFill>
                  <a:srgbClr val="0284C7"/>
                </a:solidFill>
                <a:latin typeface="Arial"/>
              </a:defRPr>
            </a:pPr>
            <a:r>
              <a:t>https://youtu.be/EcoSentinelDemo</a:t>
            </a:r>
          </a:p>
          <a:p>
            <a:pPr>
              <a:spcBef>
                <a:spcPts val="200"/>
              </a:spcBef>
              <a:defRPr sz="900">
                <a:solidFill>
                  <a:srgbClr val="0F172A"/>
                </a:solidFill>
                <a:latin typeface="Arial"/>
              </a:defRPr>
            </a:pPr>
            <a:r>
              <a:t>• Comprehensive 3-minute executive and technical walkthrough.</a:t>
            </a:r>
          </a:p>
          <a:p>
            <a:pPr>
              <a:spcBef>
                <a:spcPts val="200"/>
              </a:spcBef>
              <a:defRPr sz="900">
                <a:solidFill>
                  <a:srgbClr val="0F172A"/>
                </a:solidFill>
                <a:latin typeface="Arial"/>
              </a:defRPr>
            </a:pPr>
            <a:r>
              <a:t>• Demonstrates Mayawana reference concession audit and real-time STAC satellite search.</a:t>
            </a:r>
          </a:p>
          <a:p>
            <a:pPr>
              <a:spcBef>
                <a:spcPts val="200"/>
              </a:spcBef>
              <a:defRPr sz="900">
                <a:solidFill>
                  <a:srgbClr val="0F172A"/>
                </a:solidFill>
                <a:latin typeface="Arial"/>
              </a:defRPr>
            </a:pPr>
            <a:r>
              <a:t>• Highlights ProofLoop™ counter-evidence interrogation with Gemini 3.8 Flash.</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TextBox 166"/>
          <p:cNvSpPr txBox="1"/>
          <p:nvPr/>
        </p:nvSpPr>
        <p:spPr>
          <a:xfrm>
            <a:off x="365760" y="502920"/>
            <a:ext cx="8412480" cy="640080"/>
          </a:xfrm>
          <a:prstGeom prst="rect">
            <a:avLst/>
          </a:prstGeom>
          <a:noFill/>
        </p:spPr>
        <p:txBody>
          <a:bodyPr wrap="none">
            <a:spAutoFit/>
          </a:bodyPr>
          <a:lstStyle/>
          <a:p>
            <a:pPr>
              <a:defRPr sz="2000" b="1">
                <a:solidFill>
                  <a:srgbClr val="123524"/>
                </a:solidFill>
                <a:latin typeface="Arial"/>
              </a:defRPr>
            </a:pPr>
            <a:r>
              <a:t>Acknowledgements &amp; Scientific Open Data Foundation</a:t>
            </a:r>
          </a:p>
        </p:txBody>
      </p:sp>
      <p:sp>
        <p:nvSpPr>
          <p:cNvPr id="168" name="Rounded Rectangle 167"/>
          <p:cNvSpPr/>
          <p:nvPr/>
        </p:nvSpPr>
        <p:spPr>
          <a:xfrm>
            <a:off x="365760" y="1234440"/>
            <a:ext cx="8412480" cy="36118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400" b="1">
                <a:solidFill>
                  <a:srgbClr val="123524"/>
                </a:solidFill>
                <a:latin typeface="Arial"/>
              </a:defRPr>
            </a:pPr>
            <a:r>
              <a:t>EcoSentinel — Turning Earth Observation into Uncompromising Accountability</a:t>
            </a:r>
          </a:p>
          <a:p>
            <a:pPr>
              <a:spcBef>
                <a:spcPts val="600"/>
              </a:spcBef>
              <a:defRPr sz="1000">
                <a:solidFill>
                  <a:srgbClr val="0F172A"/>
                </a:solidFill>
                <a:latin typeface="Arial"/>
              </a:defRPr>
            </a:pPr>
            <a:r>
              <a:t>• Copernicus Sentinel-2: European Space Agency (ESA) &amp; European Commission for open access to high-resolution multispectral imagery.</a:t>
            </a:r>
          </a:p>
          <a:p>
            <a:pPr>
              <a:spcBef>
                <a:spcPts val="600"/>
              </a:spcBef>
              <a:defRPr sz="1000">
                <a:solidFill>
                  <a:srgbClr val="0F172A"/>
                </a:solidFill>
                <a:latin typeface="Arial"/>
              </a:defRPr>
            </a:pPr>
            <a:r>
              <a:t>• Element84 Earth Search: AWS Open Data Sponsorship Program for hosting high-speed Cloud-Optimized GeoTIFFs (COGs) and STAC catalog API.</a:t>
            </a:r>
          </a:p>
          <a:p>
            <a:pPr>
              <a:spcBef>
                <a:spcPts val="600"/>
              </a:spcBef>
              <a:defRPr sz="1000">
                <a:solidFill>
                  <a:srgbClr val="0F172A"/>
                </a:solidFill>
                <a:latin typeface="Arial"/>
              </a:defRPr>
            </a:pPr>
            <a:r>
              <a:t>• University of Maryland: Global Land Analysis and Discovery (GLAD) laboratory for the Hansen Global Forest Change v1.11 dataset.</a:t>
            </a:r>
          </a:p>
          <a:p>
            <a:pPr>
              <a:spcBef>
                <a:spcPts val="600"/>
              </a:spcBef>
              <a:defRPr sz="1000">
                <a:solidFill>
                  <a:srgbClr val="0F172A"/>
                </a:solidFill>
                <a:latin typeface="Arial"/>
              </a:defRPr>
            </a:pPr>
            <a:r>
              <a:t>• World Resources Institute &amp; Google: Dynamic World near real-time 10m land cover AI dataset and Google Earth Engine ecosystem.</a:t>
            </a:r>
          </a:p>
          <a:p>
            <a:pPr>
              <a:spcBef>
                <a:spcPts val="600"/>
              </a:spcBef>
              <a:defRPr sz="1000">
                <a:solidFill>
                  <a:srgbClr val="0F172A"/>
                </a:solidFill>
                <a:latin typeface="Arial"/>
              </a:defRPr>
            </a:pPr>
            <a:r>
              <a:t>• Google Cloud Platform: Google Cloud AI Builder Cup 2026 organizers and the Google GenAI / Gemini engineering team for state-of-the-art multimodal AI.</a:t>
            </a:r>
          </a:p>
          <a:p>
            <a:pPr>
              <a:spcBef>
                <a:spcPts val="600"/>
              </a:spcBef>
              <a:defRPr sz="1000">
                <a:solidFill>
                  <a:srgbClr val="0F172A"/>
                </a:solidFill>
                <a:latin typeface="Arial"/>
              </a:defRPr>
            </a:pPr>
            <a:r>
              <a:t>• Team Contact: Aman Pathak  |  Email: contact@ecosentinel.io  |  GitHub: @AP952005  |  Project: environmental-guardian-poc</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